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2"/>
  </p:notesMasterIdLst>
  <p:sldIdLst>
    <p:sldId id="258" r:id="rId2"/>
    <p:sldId id="256" r:id="rId3"/>
    <p:sldId id="257" r:id="rId4"/>
    <p:sldId id="262" r:id="rId5"/>
    <p:sldId id="271" r:id="rId6"/>
    <p:sldId id="275" r:id="rId7"/>
    <p:sldId id="270" r:id="rId8"/>
    <p:sldId id="272" r:id="rId9"/>
    <p:sldId id="292" r:id="rId10"/>
    <p:sldId id="293" r:id="rId11"/>
    <p:sldId id="269" r:id="rId12"/>
    <p:sldId id="267" r:id="rId13"/>
    <p:sldId id="298" r:id="rId14"/>
    <p:sldId id="278" r:id="rId15"/>
    <p:sldId id="299" r:id="rId16"/>
    <p:sldId id="284" r:id="rId17"/>
    <p:sldId id="283" r:id="rId18"/>
    <p:sldId id="285" r:id="rId19"/>
    <p:sldId id="286" r:id="rId20"/>
    <p:sldId id="265" r:id="rId21"/>
  </p:sldIdLst>
  <p:sldSz cx="12192000" cy="6858000"/>
  <p:notesSz cx="6858000" cy="9144000"/>
  <p:embeddedFontLst>
    <p:embeddedFont>
      <p:font typeface="맑은 고딕" panose="020B0503020000020004" pitchFamily="50" charset="-127"/>
      <p:regular r:id="rId23"/>
      <p:bold r:id="rId24"/>
    </p:embeddedFont>
    <p:embeddedFont>
      <p:font typeface="에스코어 드림 1 Thin" panose="020B0403030302020204" pitchFamily="34" charset="-127"/>
      <p:regular r:id="rId25"/>
    </p:embeddedFont>
    <p:embeddedFont>
      <p:font typeface="에스코어 드림 2 ExtraLight" panose="020B0203030302020204" pitchFamily="34" charset="-127"/>
      <p:regular r:id="rId26"/>
    </p:embeddedFont>
    <p:embeddedFont>
      <p:font typeface="에스코어 드림 3 Light" panose="020B0303030302020204" pitchFamily="34" charset="-127"/>
      <p:regular r:id="rId27"/>
    </p:embeddedFont>
    <p:embeddedFont>
      <p:font typeface="에스코어 드림 4 Regular" panose="020B0503030302020204" pitchFamily="34" charset="-127"/>
      <p:regular r:id="rId28"/>
    </p:embeddedFont>
    <p:embeddedFont>
      <p:font typeface="에스코어 드림 5 Medium" panose="020B0503030302020204" pitchFamily="34" charset="-127"/>
      <p:regular r:id="rId29"/>
    </p:embeddedFont>
    <p:embeddedFont>
      <p:font typeface="에스코어 드림 7 ExtraBold" panose="020B0803030302020204" pitchFamily="34" charset="-127"/>
      <p:bold r:id="rId30"/>
    </p:embeddedFont>
    <p:embeddedFont>
      <p:font typeface="에스코어 드림 8 Heavy" panose="020B0903030302020204" pitchFamily="34" charset="-127"/>
      <p:bold r:id="rId31"/>
    </p:embeddedFont>
    <p:embeddedFont>
      <p:font typeface="에스코어 드림 9 Black" panose="020B0A03030302020204" pitchFamily="34" charset="-127"/>
      <p:bold r:id="rId3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609" autoAdjust="0"/>
    <p:restoredTop sz="88875" autoAdjust="0"/>
  </p:normalViewPr>
  <p:slideViewPr>
    <p:cSldViewPr snapToGrid="0">
      <p:cViewPr varScale="1">
        <p:scale>
          <a:sx n="93" d="100"/>
          <a:sy n="93" d="100"/>
        </p:scale>
        <p:origin x="118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8FD2F9-BA9E-4FC7-A7D0-A715EE974A7C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25D7B-E5CB-48C1-BA93-A9F078BC8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758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&lt;1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가구 증가 추이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: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소제목 내용</a:t>
            </a:r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통계청 ‘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2022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통계로 본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인가구’자료에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의하면 전체 가구 중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가구가 차지하는 비중은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2030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년에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35.6%, 2050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년에는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39.6%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이른다고 전망했다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여성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가구 증가 추이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: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제목 내용</a:t>
            </a:r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여성 가족부가 발표한 ‘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2021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통계로 보는 여성의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삶’에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따르면 지난해 여성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가구는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333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9000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가구로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2010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(221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8000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가구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비해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만에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1.5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배로 증가했고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20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전보다는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2.6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 증가했다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dirty="0"/>
            </a:br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여성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가구를 위한 스마트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도어락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필요성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(1)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주거침입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범죄율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(2)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불안감 설문조사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/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ko-KR" altLang="en-US" b="0" dirty="0">
              <a:effectLst/>
            </a:endParaRPr>
          </a:p>
          <a:p>
            <a:br>
              <a:rPr lang="ko-KR" altLang="en-US" dirty="0"/>
            </a:b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25D7B-E5CB-48C1-BA93-A9F078BC8E6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30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이중 잠금이 실행되고 있는 환경에서 </a:t>
            </a:r>
            <a:r>
              <a:rPr lang="ko-KR" altLang="en-US" sz="1200" dirty="0" err="1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도어락</a:t>
            </a:r>
            <a:r>
              <a:rPr lang="ko-KR" altLang="en-US" sz="12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완전 해제 조건</a:t>
            </a:r>
            <a:endParaRPr lang="en-US" altLang="ko-KR" sz="1200" dirty="0"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r>
              <a:rPr lang="ko-KR" altLang="en-US" sz="12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음성 </a:t>
            </a:r>
            <a:r>
              <a:rPr lang="en-US" altLang="ko-KR" sz="12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+ </a:t>
            </a:r>
            <a:r>
              <a:rPr lang="ko-KR" altLang="en-US" sz="12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화자 </a:t>
            </a:r>
            <a:r>
              <a:rPr lang="en-US" altLang="ko-KR" sz="12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+ </a:t>
            </a:r>
            <a:r>
              <a:rPr lang="ko-KR" altLang="en-US" sz="12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비밀번호 모두 일치</a:t>
            </a:r>
            <a:endParaRPr lang="en-US" altLang="ko-KR" sz="1200" dirty="0"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r>
              <a:rPr lang="ko-KR" altLang="en-US" sz="12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이중 잠금 상태를 기본 잠금 상태로 변환 하고 싶을 경우 조건</a:t>
            </a:r>
            <a:endParaRPr lang="en-US" altLang="ko-KR" sz="1200" dirty="0"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r>
              <a:rPr lang="ko-KR" altLang="en-US" sz="12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어플리케이션에서 음성 </a:t>
            </a:r>
            <a:r>
              <a:rPr lang="en-US" altLang="ko-KR" sz="12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+ </a:t>
            </a:r>
            <a:r>
              <a:rPr lang="ko-KR" altLang="en-US" sz="12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화자 일치</a:t>
            </a:r>
            <a:endParaRPr lang="en-US" altLang="ko-KR" sz="1200" dirty="0"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25D7B-E5CB-48C1-BA93-A9F078BC8E6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023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클라우드 서버의 필요성 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: CCTV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와 같은 동영상 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/ 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모델과 같은 대용량의 데이터를 저장해야 하고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… 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개인 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PC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에 </a:t>
            </a:r>
            <a:r>
              <a:rPr lang="ko-KR" altLang="en-US" spc="-150" dirty="0" err="1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메인서버를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구현하는 것도 가능은 하지만 보안 및 성능면에서 단점을 보이기 때문에 </a:t>
            </a:r>
            <a:r>
              <a:rPr lang="ko-KR" altLang="en-US" spc="-150" dirty="0" err="1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메인서버를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보통 클라우드 서버에 구현함</a:t>
            </a:r>
            <a:endParaRPr lang="en-US" altLang="ko-KR" spc="-150" dirty="0">
              <a:solidFill>
                <a:prstClr val="black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pc="-150" dirty="0">
              <a:solidFill>
                <a:prstClr val="black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우선은 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! “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일차적으로 개인 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PC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에서 메인 서버 구현 후 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추후 클라우드 서버에서 구현할 예정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”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pc="-150" dirty="0">
              <a:solidFill>
                <a:prstClr val="black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pc="-150" dirty="0" err="1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라즈베리파이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자체를 </a:t>
            </a:r>
            <a:r>
              <a:rPr lang="ko-KR" altLang="en-US" spc="-150" dirty="0" err="1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도어락으로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사용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pc="-150" dirty="0" err="1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도어락과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클라우드 서버 간의 통신은 </a:t>
            </a:r>
            <a:r>
              <a:rPr lang="en-US" altLang="ko-KR" spc="-150" dirty="0" err="1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LoRa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로 선정</a:t>
            </a:r>
            <a:endParaRPr lang="en-US" altLang="ko-KR" spc="-150" dirty="0">
              <a:solidFill>
                <a:prstClr val="black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pc="-150" dirty="0" err="1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LoRa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는 저비용 저전력 장거리 통신이 가능하기 때문 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: 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프로토콜은 </a:t>
            </a:r>
            <a:r>
              <a:rPr lang="en-US" altLang="ko-KR" spc="-150" dirty="0" err="1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LoRaWAN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/ </a:t>
            </a:r>
            <a:r>
              <a:rPr lang="en-US" altLang="ko-KR" spc="-150" dirty="0" err="1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LoRa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Gateway(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별도의 하드웨어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가 필요</a:t>
            </a:r>
            <a:endParaRPr lang="en-US" altLang="ko-KR" spc="-150" dirty="0">
              <a:solidFill>
                <a:prstClr val="black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pc="-15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25D7B-E5CB-48C1-BA93-A9F078BC8E6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0138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클라우드 서버의 필요성 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: CCTV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와 같은 동영상 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/ 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모델과 같은 대용량의 데이터를 저장해야 하고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… 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개인 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PC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에 </a:t>
            </a:r>
            <a:r>
              <a:rPr lang="ko-KR" altLang="en-US" spc="-150" dirty="0" err="1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메인서버를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구현하는 것도 가능은 하지만 보안 및 성능면에서 단점을 보이기 때문에 </a:t>
            </a:r>
            <a:r>
              <a:rPr lang="ko-KR" altLang="en-US" spc="-150" dirty="0" err="1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메인서버를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보통 클라우드 서버에 구현함</a:t>
            </a:r>
            <a:endParaRPr lang="en-US" altLang="ko-KR" spc="-150" dirty="0">
              <a:solidFill>
                <a:prstClr val="black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pc="-150" dirty="0">
              <a:solidFill>
                <a:prstClr val="black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우선은 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! “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일차적으로 개인 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PC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에서 메인 서버 구현 후 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추후 클라우드 서버에서 구현할 예정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”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pc="-150" dirty="0">
              <a:solidFill>
                <a:prstClr val="black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pc="-150" dirty="0" err="1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라즈베리파이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자체를 </a:t>
            </a:r>
            <a:r>
              <a:rPr lang="ko-KR" altLang="en-US" spc="-150" dirty="0" err="1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도어락으로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사용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pc="-150" dirty="0" err="1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도어락과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클라우드 서버 간의 통신은 </a:t>
            </a:r>
            <a:r>
              <a:rPr lang="en-US" altLang="ko-KR" spc="-150" dirty="0" err="1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LoRa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로 선정</a:t>
            </a:r>
            <a:endParaRPr lang="en-US" altLang="ko-KR" spc="-150" dirty="0">
              <a:solidFill>
                <a:prstClr val="black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pc="-150" dirty="0" err="1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LoRa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는 저비용 저전력 장거리 통신이 가능하기 때문 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: 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프로토콜은 </a:t>
            </a:r>
            <a:r>
              <a:rPr lang="en-US" altLang="ko-KR" spc="-150" dirty="0" err="1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LoRaWAN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/ </a:t>
            </a:r>
            <a:r>
              <a:rPr lang="en-US" altLang="ko-KR" spc="-150" dirty="0" err="1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LoRa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Gateway(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별도의 하드웨어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가 필요</a:t>
            </a:r>
            <a:endParaRPr lang="en-US" altLang="ko-KR" spc="-150" dirty="0">
              <a:solidFill>
                <a:prstClr val="black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pc="-15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25D7B-E5CB-48C1-BA93-A9F078BC8E6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203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클라우드 서버의 필요성 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: CCTV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와 같은 동영상 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/ 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모델과 같은 대용량의 데이터를 저장해야 하고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… 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개인 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PC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에 </a:t>
            </a:r>
            <a:r>
              <a:rPr lang="ko-KR" altLang="en-US" spc="-150" dirty="0" err="1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메인서버를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구현하는 것도 가능은 하지만 보안 및 성능면에서 단점을 보이기 때문에 </a:t>
            </a:r>
            <a:r>
              <a:rPr lang="ko-KR" altLang="en-US" spc="-150" dirty="0" err="1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메인서버를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보통 클라우드 서버에 구현함</a:t>
            </a:r>
            <a:endParaRPr lang="en-US" altLang="ko-KR" spc="-150" dirty="0">
              <a:solidFill>
                <a:prstClr val="black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pc="-150" dirty="0">
              <a:solidFill>
                <a:prstClr val="black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우선은 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! “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일차적으로 개인 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PC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에서 메인 서버 구현 후 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추후 클라우드 서버에서 구현할 예정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”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pc="-150" dirty="0">
              <a:solidFill>
                <a:prstClr val="black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pc="-150" dirty="0" err="1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라즈베리파이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자체를 </a:t>
            </a:r>
            <a:r>
              <a:rPr lang="ko-KR" altLang="en-US" spc="-150" dirty="0" err="1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도어락으로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사용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pc="-150" dirty="0" err="1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도어락과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클라우드 서버 간의 통신은 </a:t>
            </a:r>
            <a:r>
              <a:rPr lang="en-US" altLang="ko-KR" spc="-150" dirty="0" err="1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LoRa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로 선정</a:t>
            </a:r>
            <a:endParaRPr lang="en-US" altLang="ko-KR" spc="-150" dirty="0">
              <a:solidFill>
                <a:prstClr val="black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pc="-150" dirty="0" err="1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LoRa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는 저비용 저전력 장거리 통신이 가능하기 때문 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: 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프로토콜은 </a:t>
            </a:r>
            <a:r>
              <a:rPr lang="en-US" altLang="ko-KR" spc="-150" dirty="0" err="1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LoRaWAN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/ </a:t>
            </a:r>
            <a:r>
              <a:rPr lang="en-US" altLang="ko-KR" spc="-150" dirty="0" err="1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LoRa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Gateway(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별도의 하드웨어</a:t>
            </a:r>
            <a:r>
              <a:rPr lang="en-US" altLang="ko-KR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  <a:r>
              <a:rPr lang="ko-KR" altLang="en-US" spc="-150" dirty="0">
                <a:solidFill>
                  <a:prstClr val="black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가 필요</a:t>
            </a:r>
            <a:endParaRPr lang="en-US" altLang="ko-KR" spc="-150" dirty="0">
              <a:solidFill>
                <a:prstClr val="black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pc="-15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25D7B-E5CB-48C1-BA93-A9F078BC8E6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566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25D7B-E5CB-48C1-BA93-A9F078BC8E6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50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10FDBE-E144-42C2-B200-B7C12B8626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12DB6BD-A4D8-452F-B138-2F033465E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DFE118-0EB1-481F-B80B-5C38E9B1F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422C8-24D4-41BF-867D-974FC0EF2211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F6CBDC-DD51-4A20-99A6-4A2096B46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D898F6-357B-4AF0-9321-CF22F0B7F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09E4-BCE1-4B3A-90ED-26E55CBEC2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607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0580CC-A87F-4703-A9FA-547C71793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2BA0DF-1C15-465D-9A57-1CA36C4C8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6AA823-BFB1-449E-A1C8-27955F099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422C8-24D4-41BF-867D-974FC0EF2211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8BF6B7-9F0D-465A-A728-C766F9B34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324838-ADB7-40F6-A9E2-CFCFDF5B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09E4-BCE1-4B3A-90ED-26E55CBEC2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625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54DBD0-682B-4A32-A695-0957620C1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A1646C-5E03-466F-845B-135DFA7D0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F2C69C-30C8-446E-8B56-6543285C2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422C8-24D4-41BF-867D-974FC0EF2211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06CAD1-02C7-4280-A8B3-9058AF390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6CBFCF-C366-4C9E-9139-AF6FC7B42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09E4-BCE1-4B3A-90ED-26E55CBEC2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718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EB866B-0D8F-46FD-A6AC-37CF4237C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977B94-07BA-4B7B-8066-6940791BCC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CA79C4-E1F7-466D-BC45-71BF7F8D1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FB45F9-A86E-4468-AAFB-785EB4B19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422C8-24D4-41BF-867D-974FC0EF2211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0B64E4-663E-45F9-870C-328282E02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FBF23C-738F-44D2-A61C-F542658A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09E4-BCE1-4B3A-90ED-26E55CBEC2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247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808536-D58F-4E7C-8426-ABDBCD8D9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84CDDA-7E4E-4F10-BC48-CEE503B58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091F72-7C9A-4233-BD6E-096F0C49E4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462D89-0973-47E3-A921-19D978E115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FAF3B71-1BF8-48AD-B0B7-C6F33100C3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41F4D91-B1C4-4BDA-920F-891B4C01F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422C8-24D4-41BF-867D-974FC0EF2211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ED50109-1799-4497-81A6-331A4DA33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7C0577B-DD69-4715-A605-3C43B8EBC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09E4-BCE1-4B3A-90ED-26E55CBEC2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757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8C8914-026C-4ADD-A8B0-877D11B1E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72E3836-1305-490F-B0E2-32AA6D248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422C8-24D4-41BF-867D-974FC0EF2211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131218-87C5-4C65-8F24-4CF4E66BF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AF5299-D959-4667-803B-17CC7091A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09E4-BCE1-4B3A-90ED-26E55CBEC2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178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BE8B252-2354-4DEB-BE0B-AE9172860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422C8-24D4-41BF-867D-974FC0EF2211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8B45D91-3AB6-4C16-B9E3-9BDED9756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675DD5-C94A-4D7F-B63C-8D6C748C5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09E4-BCE1-4B3A-90ED-26E55CBEC2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335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D6312-8DB6-4583-A630-8CCAE1213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E4A23D-C08A-4839-8F8F-B31268161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F07010-6CBB-472D-AF50-14B45373F3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8E41D7-7361-4ABA-939E-A3D963ED3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422C8-24D4-41BF-867D-974FC0EF2211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4B605C-6279-4028-B42A-F05931740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A731B5-CB24-4EB7-82C8-423CF4008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09E4-BCE1-4B3A-90ED-26E55CBEC2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3245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12CCA5-A3BD-4114-828F-9F00374B0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2F84929-3150-469A-9DF5-FBA5FB7ED5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84B9BD-74D9-4B7A-B3B6-246916A0E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24FDAF-CD0C-4170-B2F9-7D70C0BC7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422C8-24D4-41BF-867D-974FC0EF2211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6D8236-774B-42A1-9461-782F4620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98A841-9BFA-462C-ACA3-406486FE6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09E4-BCE1-4B3A-90ED-26E55CBEC2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370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274D4F-0883-42D2-96FA-A2980A1EB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5263C1-3B27-44CB-ADA3-EF80EAF613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F7EDCC-DA42-47DA-82DB-E6573274A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422C8-24D4-41BF-867D-974FC0EF2211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2EB4A1-A687-4FEA-809E-FB0696191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E5B889-7445-444C-9E5E-2724805D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09E4-BCE1-4B3A-90ED-26E55CBEC2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953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6804D18-CEA4-41B5-8A7A-B5279EE3B6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D0160D-AE0F-43FC-BD8C-AAFAC7A99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092247-9CF5-412D-83FC-5294E7056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422C8-24D4-41BF-867D-974FC0EF2211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27FFD9-C487-4CD6-AE5C-CED63F673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9A5600-BE23-4692-8B09-265EB64F4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09E4-BCE1-4B3A-90ED-26E55CBEC2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719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DB3517A-4489-4563-B368-331AFAF5C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DEFD28-F0D3-4FBB-B10B-AB8B747E5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F65865-B91F-42A2-9AB9-CB2D3DB7D9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422C8-24D4-41BF-867D-974FC0EF2211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F24938-1CC3-4ABF-89C8-D9DA026E4E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65E21E-395C-4D76-B015-842DF5436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D09E4-BCE1-4B3A-90ED-26E55CBEC2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767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7232116B-ADE0-4213-A566-454551D1C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4600" y="1840643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ko-KR" altLang="en-US" sz="3600" spc="-15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생체 정보를 활용한</a:t>
            </a:r>
            <a:endParaRPr lang="en-US" altLang="ko-KR" sz="3600" spc="-150" dirty="0"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  <a:p>
            <a:pPr algn="l"/>
            <a:r>
              <a:rPr lang="ko-KR" altLang="en-US" sz="3600" spc="-15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스마트 </a:t>
            </a:r>
            <a:r>
              <a:rPr lang="ko-KR" altLang="en-US" sz="3600" spc="-150" dirty="0" err="1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도어락</a:t>
            </a:r>
            <a:r>
              <a:rPr lang="ko-KR" altLang="en-US" sz="3600" spc="-15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 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B9B5270-93EA-4884-9C28-5BCE37603EE3}"/>
              </a:ext>
            </a:extLst>
          </p:cNvPr>
          <p:cNvGrpSpPr/>
          <p:nvPr/>
        </p:nvGrpSpPr>
        <p:grpSpPr>
          <a:xfrm>
            <a:off x="786917" y="1395409"/>
            <a:ext cx="3080233" cy="338554"/>
            <a:chOff x="3187217" y="2405059"/>
            <a:chExt cx="3080233" cy="33855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21EB37A-4371-4D14-A4C4-2BB1144AF17E}"/>
                </a:ext>
              </a:extLst>
            </p:cNvPr>
            <p:cNvSpPr txBox="1"/>
            <p:nvPr/>
          </p:nvSpPr>
          <p:spPr>
            <a:xfrm>
              <a:off x="3187217" y="2405059"/>
              <a:ext cx="28529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spc="-150" err="1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캡스톤</a:t>
              </a:r>
              <a:r>
                <a:rPr lang="ko-KR" altLang="en-US" sz="1600" spc="-15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계획 </a:t>
              </a:r>
              <a:r>
                <a:rPr lang="ko-KR" altLang="en-US" sz="1600" spc="-150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발표</a:t>
              </a:r>
            </a:p>
          </p:txBody>
        </p: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63742CBE-E2B7-4321-9ECE-865DBA21BE5E}"/>
                </a:ext>
              </a:extLst>
            </p:cNvPr>
            <p:cNvCxnSpPr>
              <a:cxnSpLocks/>
            </p:cNvCxnSpPr>
            <p:nvPr/>
          </p:nvCxnSpPr>
          <p:spPr>
            <a:xfrm>
              <a:off x="3251200" y="2709323"/>
              <a:ext cx="30162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D2B78B0-74F3-4EDB-93CF-6D6D3772ACD3}"/>
              </a:ext>
            </a:extLst>
          </p:cNvPr>
          <p:cNvCxnSpPr>
            <a:cxnSpLocks/>
          </p:cNvCxnSpPr>
          <p:nvPr/>
        </p:nvCxnSpPr>
        <p:spPr>
          <a:xfrm flipV="1">
            <a:off x="2923540" y="3060428"/>
            <a:ext cx="2508458" cy="190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부제목 2">
            <a:extLst>
              <a:ext uri="{FF2B5EF4-FFF2-40B4-BE49-F238E27FC236}">
                <a16:creationId xmlns:a16="http://schemas.microsoft.com/office/drawing/2014/main" id="{12F1DD04-8E35-458D-9DEB-5827C9CE6292}"/>
              </a:ext>
            </a:extLst>
          </p:cNvPr>
          <p:cNvSpPr txBox="1">
            <a:spLocks/>
          </p:cNvSpPr>
          <p:nvPr/>
        </p:nvSpPr>
        <p:spPr>
          <a:xfrm>
            <a:off x="4847044" y="4848376"/>
            <a:ext cx="7548156" cy="115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0000" spc="-150" dirty="0" err="1">
                <a:solidFill>
                  <a:srgbClr val="E6E6E6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FrameRUN</a:t>
            </a:r>
            <a:endParaRPr lang="ko-KR" altLang="en-US" sz="10000" spc="-150" dirty="0">
              <a:solidFill>
                <a:srgbClr val="E6E6E6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6241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666746-8C88-4979-967D-4D4B4E3B09E2}"/>
              </a:ext>
            </a:extLst>
          </p:cNvPr>
          <p:cNvSpPr txBox="1"/>
          <p:nvPr/>
        </p:nvSpPr>
        <p:spPr>
          <a:xfrm>
            <a:off x="202717" y="268585"/>
            <a:ext cx="28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spc="-15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CONTEXT</a:t>
            </a:r>
            <a:endParaRPr lang="ko-KR" altLang="en-US" sz="2400" spc="-150" dirty="0"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DCFE422-97AC-4293-8A19-7FFD0442B116}"/>
              </a:ext>
            </a:extLst>
          </p:cNvPr>
          <p:cNvCxnSpPr>
            <a:cxnSpLocks/>
          </p:cNvCxnSpPr>
          <p:nvPr/>
        </p:nvCxnSpPr>
        <p:spPr>
          <a:xfrm flipH="1">
            <a:off x="202717" y="673100"/>
            <a:ext cx="2451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C2329B6-9952-4A1F-889F-4E80EFF785F9}"/>
              </a:ext>
            </a:extLst>
          </p:cNvPr>
          <p:cNvGrpSpPr/>
          <p:nvPr/>
        </p:nvGrpSpPr>
        <p:grpSpPr>
          <a:xfrm>
            <a:off x="-315167" y="1792622"/>
            <a:ext cx="3080526" cy="2467202"/>
            <a:chOff x="56600" y="1363038"/>
            <a:chExt cx="3080526" cy="246720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936B4D4-EC90-4266-AA36-8D5433E09AA5}"/>
                </a:ext>
              </a:extLst>
            </p:cNvPr>
            <p:cNvSpPr txBox="1"/>
            <p:nvPr/>
          </p:nvSpPr>
          <p:spPr>
            <a:xfrm>
              <a:off x="56600" y="3327602"/>
              <a:ext cx="3080526" cy="502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20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배경</a:t>
              </a:r>
              <a:endParaRPr lang="en-US" altLang="ko-KR" sz="20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5C3AB7A1-9056-44BB-9A19-AF23F464A277}"/>
                </a:ext>
              </a:extLst>
            </p:cNvPr>
            <p:cNvGrpSpPr/>
            <p:nvPr/>
          </p:nvGrpSpPr>
          <p:grpSpPr>
            <a:xfrm>
              <a:off x="1105050" y="1363038"/>
              <a:ext cx="1349392" cy="1928803"/>
              <a:chOff x="1153175" y="1363038"/>
              <a:chExt cx="1349392" cy="1928803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4834C1F-7A90-473A-BA0C-B851EF52A01A}"/>
                  </a:ext>
                </a:extLst>
              </p:cNvPr>
              <p:cNvSpPr txBox="1"/>
              <p:nvPr/>
            </p:nvSpPr>
            <p:spPr>
              <a:xfrm rot="5400000">
                <a:off x="1273873" y="1242340"/>
                <a:ext cx="1107996" cy="1349392"/>
              </a:xfrm>
              <a:prstGeom prst="rect">
                <a:avLst/>
              </a:prstGeom>
              <a:noFill/>
            </p:spPr>
            <p:txBody>
              <a:bodyPr vert="vert270" wrap="square" rtlCol="0">
                <a:spAutoFit/>
              </a:bodyPr>
              <a:lstStyle/>
              <a:p>
                <a:r>
                  <a:rPr lang="en-US" altLang="ko-KR" sz="6000" spc="-300" dirty="0">
                    <a:latin typeface="에스코어 드림 9 Black" panose="020B0A03030302020204" pitchFamily="34" charset="-127"/>
                    <a:ea typeface="에스코어 드림 9 Black" panose="020B0A03030302020204" pitchFamily="34" charset="-127"/>
                  </a:rPr>
                  <a:t>01</a:t>
                </a:r>
                <a:endParaRPr lang="ko-KR" altLang="en-US" sz="6000" spc="-3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endParaRPr>
              </a:p>
            </p:txBody>
          </p:sp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1875A814-022D-433D-92F3-B1664B79B1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41056" y="2400702"/>
                <a:ext cx="0" cy="891139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C0521B2-7AC1-4949-A10F-86BAE495A0AF}"/>
              </a:ext>
            </a:extLst>
          </p:cNvPr>
          <p:cNvGrpSpPr/>
          <p:nvPr/>
        </p:nvGrpSpPr>
        <p:grpSpPr>
          <a:xfrm>
            <a:off x="2041410" y="2387527"/>
            <a:ext cx="2233283" cy="2821992"/>
            <a:chOff x="3239054" y="1759981"/>
            <a:chExt cx="2233283" cy="282199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EEE38FE-C363-40C8-A9C8-44E0B374A797}"/>
                </a:ext>
              </a:extLst>
            </p:cNvPr>
            <p:cNvSpPr txBox="1"/>
            <p:nvPr/>
          </p:nvSpPr>
          <p:spPr>
            <a:xfrm>
              <a:off x="3239054" y="4079335"/>
              <a:ext cx="2233283" cy="5026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에스코어 드림 9 Black" panose="020B0A03030302020204" pitchFamily="34" charset="-127"/>
                  <a:ea typeface="에스코어 드림 9 Black" panose="020B0A03030302020204" pitchFamily="34" charset="-127"/>
                  <a:cs typeface="+mn-cs"/>
                </a:rPr>
                <a:t>기능</a:t>
              </a:r>
              <a:endPara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에스코어 드림 9 Black" panose="020B0A03030302020204" pitchFamily="34" charset="-127"/>
                <a:ea typeface="에스코어 드림 9 Black" panose="020B0A03030302020204" pitchFamily="34" charset="-127"/>
                <a:cs typeface="+mn-cs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48EB1347-2B74-47AC-B967-777434ED6AA4}"/>
                </a:ext>
              </a:extLst>
            </p:cNvPr>
            <p:cNvGrpSpPr/>
            <p:nvPr/>
          </p:nvGrpSpPr>
          <p:grpSpPr>
            <a:xfrm>
              <a:off x="3814541" y="1759981"/>
              <a:ext cx="1349392" cy="2243581"/>
              <a:chOff x="1072943" y="573962"/>
              <a:chExt cx="1349392" cy="2243581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209C9C3-ABB7-4321-A014-A558CC6B7A93}"/>
                  </a:ext>
                </a:extLst>
              </p:cNvPr>
              <p:cNvSpPr txBox="1"/>
              <p:nvPr/>
            </p:nvSpPr>
            <p:spPr>
              <a:xfrm rot="5400000">
                <a:off x="1193641" y="453264"/>
                <a:ext cx="1107996" cy="1349392"/>
              </a:xfrm>
              <a:prstGeom prst="rect">
                <a:avLst/>
              </a:prstGeom>
              <a:noFill/>
            </p:spPr>
            <p:txBody>
              <a:bodyPr vert="vert270" wrap="square" rtlCol="0">
                <a:spAutoFit/>
              </a:bodyPr>
              <a:lstStyle/>
              <a:p>
                <a:r>
                  <a:rPr lang="en-US" altLang="ko-KR" sz="6000" spc="-300" dirty="0">
                    <a:latin typeface="에스코어 드림 9 Black" panose="020B0A03030302020204" pitchFamily="34" charset="-127"/>
                    <a:ea typeface="에스코어 드림 9 Black" panose="020B0A03030302020204" pitchFamily="34" charset="-127"/>
                  </a:rPr>
                  <a:t>02</a:t>
                </a:r>
                <a:endParaRPr lang="ko-KR" altLang="en-US" sz="6000" spc="-3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endParaRPr>
              </a:p>
            </p:txBody>
          </p: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CD59C8CB-20AD-46E5-A3AD-0F2832F5A5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41056" y="1535711"/>
                <a:ext cx="0" cy="1281832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92E1982E-AB68-4F2D-BF88-469D44008513}"/>
              </a:ext>
            </a:extLst>
          </p:cNvPr>
          <p:cNvGrpSpPr/>
          <p:nvPr/>
        </p:nvGrpSpPr>
        <p:grpSpPr>
          <a:xfrm>
            <a:off x="5789511" y="2426769"/>
            <a:ext cx="3072663" cy="2816732"/>
            <a:chOff x="9175938" y="1324536"/>
            <a:chExt cx="3072663" cy="2816732"/>
          </a:xfrm>
        </p:grpSpPr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9F6ADFCC-AA59-4A07-9F1F-5A015699B777}"/>
                </a:ext>
              </a:extLst>
            </p:cNvPr>
            <p:cNvGrpSpPr/>
            <p:nvPr/>
          </p:nvGrpSpPr>
          <p:grpSpPr>
            <a:xfrm>
              <a:off x="10134970" y="1324536"/>
              <a:ext cx="1349392" cy="2342821"/>
              <a:chOff x="1076173" y="1252894"/>
              <a:chExt cx="1349392" cy="2342821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AF165C6-04CB-433A-A25F-EEC306581907}"/>
                  </a:ext>
                </a:extLst>
              </p:cNvPr>
              <p:cNvSpPr txBox="1"/>
              <p:nvPr/>
            </p:nvSpPr>
            <p:spPr>
              <a:xfrm rot="5400000">
                <a:off x="1196871" y="1132196"/>
                <a:ext cx="1107996" cy="1349392"/>
              </a:xfrm>
              <a:prstGeom prst="rect">
                <a:avLst/>
              </a:prstGeom>
              <a:noFill/>
            </p:spPr>
            <p:txBody>
              <a:bodyPr vert="vert270" wrap="square" rtlCol="0">
                <a:spAutoFit/>
              </a:bodyPr>
              <a:lstStyle/>
              <a:p>
                <a:r>
                  <a:rPr lang="en-US" altLang="ko-KR" sz="6000" spc="-300" dirty="0">
                    <a:latin typeface="에스코어 드림 9 Black" panose="020B0A03030302020204" pitchFamily="34" charset="-127"/>
                    <a:ea typeface="에스코어 드림 9 Black" panose="020B0A03030302020204" pitchFamily="34" charset="-127"/>
                  </a:rPr>
                  <a:t>04</a:t>
                </a:r>
                <a:endParaRPr lang="ko-KR" altLang="en-US" sz="6000" spc="-3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endParaRPr>
              </a:p>
            </p:txBody>
          </p: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701745FB-7E9F-4846-AF78-B29C417203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53473" y="2109462"/>
                <a:ext cx="0" cy="148625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1B77DA1-B3DF-4DD2-BB9D-3101B42D2DA3}"/>
                </a:ext>
              </a:extLst>
            </p:cNvPr>
            <p:cNvSpPr txBox="1"/>
            <p:nvPr/>
          </p:nvSpPr>
          <p:spPr>
            <a:xfrm>
              <a:off x="9175938" y="3638630"/>
              <a:ext cx="3072663" cy="502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20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핵심 기술</a:t>
              </a:r>
              <a:endParaRPr lang="en-US" altLang="ko-KR" sz="20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0FB5693B-8FCF-43EC-81A5-7338A8ADE28D}"/>
              </a:ext>
            </a:extLst>
          </p:cNvPr>
          <p:cNvGrpSpPr/>
          <p:nvPr/>
        </p:nvGrpSpPr>
        <p:grpSpPr>
          <a:xfrm>
            <a:off x="7477628" y="1566566"/>
            <a:ext cx="3072663" cy="2816732"/>
            <a:chOff x="9175938" y="1324536"/>
            <a:chExt cx="3072663" cy="2816732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1DC9628C-6724-486F-9837-91CD31A41253}"/>
                </a:ext>
              </a:extLst>
            </p:cNvPr>
            <p:cNvGrpSpPr/>
            <p:nvPr/>
          </p:nvGrpSpPr>
          <p:grpSpPr>
            <a:xfrm>
              <a:off x="10134970" y="1324536"/>
              <a:ext cx="1349392" cy="2342821"/>
              <a:chOff x="1076173" y="1252894"/>
              <a:chExt cx="1349392" cy="2342821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23B356E-D56F-45DF-87D8-D9B158317228}"/>
                  </a:ext>
                </a:extLst>
              </p:cNvPr>
              <p:cNvSpPr txBox="1"/>
              <p:nvPr/>
            </p:nvSpPr>
            <p:spPr>
              <a:xfrm rot="5400000">
                <a:off x="1196871" y="1132196"/>
                <a:ext cx="1107996" cy="1349392"/>
              </a:xfrm>
              <a:prstGeom prst="rect">
                <a:avLst/>
              </a:prstGeom>
              <a:noFill/>
            </p:spPr>
            <p:txBody>
              <a:bodyPr vert="vert270" wrap="square" rtlCol="0">
                <a:spAutoFit/>
              </a:bodyPr>
              <a:lstStyle/>
              <a:p>
                <a:r>
                  <a:rPr lang="en-US" altLang="ko-KR" sz="6000" spc="-300" dirty="0">
                    <a:latin typeface="에스코어 드림 9 Black" panose="020B0A03030302020204" pitchFamily="34" charset="-127"/>
                    <a:ea typeface="에스코어 드림 9 Black" panose="020B0A03030302020204" pitchFamily="34" charset="-127"/>
                  </a:rPr>
                  <a:t>05</a:t>
                </a:r>
                <a:endParaRPr lang="ko-KR" altLang="en-US" sz="6000" spc="-3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endParaRPr>
              </a:p>
            </p:txBody>
          </p: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66A14585-CA50-4E59-991C-6A4C678231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53473" y="2109462"/>
                <a:ext cx="0" cy="148625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3B9189F-630C-4D5C-986A-7494268B40F3}"/>
                </a:ext>
              </a:extLst>
            </p:cNvPr>
            <p:cNvSpPr txBox="1"/>
            <p:nvPr/>
          </p:nvSpPr>
          <p:spPr>
            <a:xfrm>
              <a:off x="9175938" y="3638630"/>
              <a:ext cx="3072663" cy="502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20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역할</a:t>
              </a:r>
              <a:endParaRPr lang="en-US" altLang="ko-KR" sz="20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E42B0DF-E326-4931-9A98-5702080AB8D7}"/>
              </a:ext>
            </a:extLst>
          </p:cNvPr>
          <p:cNvGrpSpPr/>
          <p:nvPr/>
        </p:nvGrpSpPr>
        <p:grpSpPr>
          <a:xfrm>
            <a:off x="9242844" y="1063928"/>
            <a:ext cx="3072663" cy="2816732"/>
            <a:chOff x="9175938" y="1324536"/>
            <a:chExt cx="3072663" cy="2816732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EA476E72-C203-4809-B024-6FB253EFCBF2}"/>
                </a:ext>
              </a:extLst>
            </p:cNvPr>
            <p:cNvGrpSpPr/>
            <p:nvPr/>
          </p:nvGrpSpPr>
          <p:grpSpPr>
            <a:xfrm>
              <a:off x="10134970" y="1324536"/>
              <a:ext cx="1349392" cy="2342821"/>
              <a:chOff x="1076173" y="1252894"/>
              <a:chExt cx="1349392" cy="2342821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FD0963D-9DA7-4655-AC08-A37CD9F278A9}"/>
                  </a:ext>
                </a:extLst>
              </p:cNvPr>
              <p:cNvSpPr txBox="1"/>
              <p:nvPr/>
            </p:nvSpPr>
            <p:spPr>
              <a:xfrm rot="5400000">
                <a:off x="1196871" y="1132196"/>
                <a:ext cx="1107996" cy="1349392"/>
              </a:xfrm>
              <a:prstGeom prst="rect">
                <a:avLst/>
              </a:prstGeom>
              <a:noFill/>
            </p:spPr>
            <p:txBody>
              <a:bodyPr vert="vert270" wrap="square" rtlCol="0">
                <a:spAutoFit/>
              </a:bodyPr>
              <a:lstStyle/>
              <a:p>
                <a:r>
                  <a:rPr lang="en-US" altLang="ko-KR" sz="6000" spc="-300" dirty="0">
                    <a:latin typeface="에스코어 드림 9 Black" panose="020B0A03030302020204" pitchFamily="34" charset="-127"/>
                    <a:ea typeface="에스코어 드림 9 Black" panose="020B0A03030302020204" pitchFamily="34" charset="-127"/>
                  </a:rPr>
                  <a:t>06</a:t>
                </a:r>
                <a:endParaRPr lang="ko-KR" altLang="en-US" sz="6000" spc="-3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endParaRPr>
              </a:p>
            </p:txBody>
          </p:sp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639FB71B-FE87-4899-A182-05F6AE662A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53473" y="2109462"/>
                <a:ext cx="0" cy="148625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5F8074E-5835-421E-9688-BE04DE9B45D9}"/>
                </a:ext>
              </a:extLst>
            </p:cNvPr>
            <p:cNvSpPr txBox="1"/>
            <p:nvPr/>
          </p:nvSpPr>
          <p:spPr>
            <a:xfrm>
              <a:off x="9175938" y="3638630"/>
              <a:ext cx="3072663" cy="502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20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참고 문헌</a:t>
              </a:r>
              <a:endParaRPr lang="en-US" altLang="ko-KR" sz="20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96C59D3D-86FF-4C84-BE1A-55406EA4F5DE}"/>
              </a:ext>
            </a:extLst>
          </p:cNvPr>
          <p:cNvGrpSpPr/>
          <p:nvPr/>
        </p:nvGrpSpPr>
        <p:grpSpPr>
          <a:xfrm>
            <a:off x="3782985" y="2980767"/>
            <a:ext cx="3072663" cy="2816732"/>
            <a:chOff x="9175938" y="1324536"/>
            <a:chExt cx="3072663" cy="2816732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B0E81877-62EB-4B98-824E-1F5B37FF9D43}"/>
                </a:ext>
              </a:extLst>
            </p:cNvPr>
            <p:cNvGrpSpPr/>
            <p:nvPr/>
          </p:nvGrpSpPr>
          <p:grpSpPr>
            <a:xfrm>
              <a:off x="10134970" y="1324536"/>
              <a:ext cx="1349392" cy="2342821"/>
              <a:chOff x="1076173" y="1252894"/>
              <a:chExt cx="1349392" cy="2342821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5E0EC98-0E2B-41D8-93CA-ED7A8E44505A}"/>
                  </a:ext>
                </a:extLst>
              </p:cNvPr>
              <p:cNvSpPr txBox="1"/>
              <p:nvPr/>
            </p:nvSpPr>
            <p:spPr>
              <a:xfrm rot="5400000">
                <a:off x="1196871" y="1132196"/>
                <a:ext cx="1107996" cy="1349392"/>
              </a:xfrm>
              <a:prstGeom prst="rect">
                <a:avLst/>
              </a:prstGeom>
              <a:noFill/>
            </p:spPr>
            <p:txBody>
              <a:bodyPr vert="vert270" wrap="square" rtlCol="0">
                <a:spAutoFit/>
              </a:bodyPr>
              <a:lstStyle/>
              <a:p>
                <a:r>
                  <a:rPr lang="en-US" altLang="ko-KR" sz="6000" spc="-300" dirty="0">
                    <a:latin typeface="에스코어 드림 9 Black" panose="020B0A03030302020204" pitchFamily="34" charset="-127"/>
                    <a:ea typeface="에스코어 드림 9 Black" panose="020B0A03030302020204" pitchFamily="34" charset="-127"/>
                  </a:rPr>
                  <a:t>03</a:t>
                </a:r>
                <a:endParaRPr lang="ko-KR" altLang="en-US" sz="6000" spc="-3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endParaRPr>
              </a:p>
            </p:txBody>
          </p: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0F79B25A-99C5-4114-8E94-53AFBE42A5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53473" y="2109462"/>
                <a:ext cx="0" cy="148625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E9339E0-8D9B-486E-89FC-42A939DC37FD}"/>
                </a:ext>
              </a:extLst>
            </p:cNvPr>
            <p:cNvSpPr txBox="1"/>
            <p:nvPr/>
          </p:nvSpPr>
          <p:spPr>
            <a:xfrm>
              <a:off x="9175938" y="3638630"/>
              <a:ext cx="3072663" cy="502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20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구성도</a:t>
              </a:r>
              <a:endParaRPr lang="en-US" altLang="ko-KR" sz="20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4171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572CBD15-4232-44F9-8CB7-C682E0521D78}"/>
              </a:ext>
            </a:extLst>
          </p:cNvPr>
          <p:cNvGrpSpPr/>
          <p:nvPr/>
        </p:nvGrpSpPr>
        <p:grpSpPr>
          <a:xfrm>
            <a:off x="4527436" y="2389503"/>
            <a:ext cx="3261899" cy="2078994"/>
            <a:chOff x="2427701" y="1915691"/>
            <a:chExt cx="3261899" cy="2078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F7C59D7-7B87-4D03-B11B-F146E1C373C0}"/>
                </a:ext>
              </a:extLst>
            </p:cNvPr>
            <p:cNvSpPr txBox="1"/>
            <p:nvPr/>
          </p:nvSpPr>
          <p:spPr>
            <a:xfrm>
              <a:off x="2522318" y="3492047"/>
              <a:ext cx="3072663" cy="502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lang="en-US" altLang="ko-KR" sz="20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26A7792-D3A1-4FC0-BCB8-DD1669840839}"/>
                </a:ext>
              </a:extLst>
            </p:cNvPr>
            <p:cNvSpPr txBox="1"/>
            <p:nvPr/>
          </p:nvSpPr>
          <p:spPr>
            <a:xfrm rot="5400000">
              <a:off x="3017959" y="1325433"/>
              <a:ext cx="1954381" cy="3134897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US" altLang="ko-KR" sz="11500" spc="-3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01</a:t>
              </a:r>
              <a:endParaRPr lang="ko-KR" altLang="en-US" sz="11500" spc="-3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7D784A-1D1F-4E9B-A4B2-BA2A5F45F6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27701" y="3474050"/>
              <a:ext cx="3261899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D16880E-A77D-4913-AD52-75D1239DB6BD}"/>
              </a:ext>
            </a:extLst>
          </p:cNvPr>
          <p:cNvSpPr txBox="1"/>
          <p:nvPr/>
        </p:nvSpPr>
        <p:spPr>
          <a:xfrm>
            <a:off x="4241799" y="3086038"/>
            <a:ext cx="5695203" cy="830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600" spc="-15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배경</a:t>
            </a:r>
            <a:endParaRPr lang="en-US" altLang="ko-KR" sz="3600" spc="-150" dirty="0"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3505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BAED3E11-AAF0-4204-A65A-9890CCE83648}"/>
              </a:ext>
            </a:extLst>
          </p:cNvPr>
          <p:cNvGrpSpPr/>
          <p:nvPr/>
        </p:nvGrpSpPr>
        <p:grpSpPr>
          <a:xfrm>
            <a:off x="-1103845" y="-19050"/>
            <a:ext cx="3072663" cy="933525"/>
            <a:chOff x="10359306" y="124840"/>
            <a:chExt cx="3072663" cy="93352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D64F363-A836-49AD-8B44-4B912ABAC8C0}"/>
                </a:ext>
              </a:extLst>
            </p:cNvPr>
            <p:cNvSpPr txBox="1"/>
            <p:nvPr/>
          </p:nvSpPr>
          <p:spPr>
            <a:xfrm>
              <a:off x="10359306" y="555727"/>
              <a:ext cx="3072663" cy="502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20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 </a:t>
              </a:r>
              <a:r>
                <a:rPr lang="ko-KR" altLang="en-US" sz="1600" spc="-150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배경</a:t>
              </a:r>
              <a:endParaRPr lang="en-US" altLang="ko-KR" sz="1600" spc="-15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562899C-94EB-405B-B82C-78A746CAE7C0}"/>
                </a:ext>
              </a:extLst>
            </p:cNvPr>
            <p:cNvSpPr txBox="1"/>
            <p:nvPr/>
          </p:nvSpPr>
          <p:spPr>
            <a:xfrm rot="5400000">
              <a:off x="11782843" y="-118969"/>
              <a:ext cx="861774" cy="1349392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US" altLang="ko-KR" sz="4400" spc="-3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01</a:t>
              </a:r>
              <a:endParaRPr lang="ko-KR" altLang="en-US" sz="4400" spc="-3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pic>
        <p:nvPicPr>
          <p:cNvPr id="47" name="Picture 6" descr="https://lh6.googleusercontent.com/Q14V__usB5QY-BZk5jjSc-wgb40KXz70EzGF83KIhqFinRwv61ac1EnOxPSP1KzA4yyDBOEt7OJ6-oI4PSXkLKbMsI5lOSb23TjE3Rxc724X-uVFJCttFo1rXH7QJbvUnLmIqc7qEiuAZtZMGZuYiw=s2048">
            <a:extLst>
              <a:ext uri="{FF2B5EF4-FFF2-40B4-BE49-F238E27FC236}">
                <a16:creationId xmlns:a16="http://schemas.microsoft.com/office/drawing/2014/main" id="{7C332C2E-F28C-415F-BAD5-A247CF8CB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3814" y="5238871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8551773-8565-40B1-B969-B1AA7A94E2C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99" t="29103" r="64353" b="5686"/>
          <a:stretch/>
        </p:blipFill>
        <p:spPr>
          <a:xfrm>
            <a:off x="860039" y="1722068"/>
            <a:ext cx="3072663" cy="3462822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2A3116BB-0112-4CFF-8AF3-78449C98169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9816" t="8458" r="10120" b="61270"/>
          <a:stretch/>
        </p:blipFill>
        <p:spPr>
          <a:xfrm>
            <a:off x="4171786" y="556974"/>
            <a:ext cx="3870838" cy="1645141"/>
          </a:xfrm>
          <a:prstGeom prst="rect">
            <a:avLst/>
          </a:prstGeom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1DC88F01-8251-4FA0-B28C-0110C077F44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522" t="7041" r="65143" b="56631"/>
          <a:stretch/>
        </p:blipFill>
        <p:spPr>
          <a:xfrm>
            <a:off x="4665218" y="2504411"/>
            <a:ext cx="2861564" cy="1927654"/>
          </a:xfrm>
          <a:prstGeom prst="rect">
            <a:avLst/>
          </a:prstGeom>
        </p:spPr>
      </p:pic>
      <p:pic>
        <p:nvPicPr>
          <p:cNvPr id="111" name="그림 110">
            <a:extLst>
              <a:ext uri="{FF2B5EF4-FFF2-40B4-BE49-F238E27FC236}">
                <a16:creationId xmlns:a16="http://schemas.microsoft.com/office/drawing/2014/main" id="{128EDA62-3896-48CA-83F8-F00DD40EDD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1707" y="1619129"/>
            <a:ext cx="3186113" cy="3460609"/>
          </a:xfrm>
          <a:prstGeom prst="rect">
            <a:avLst/>
          </a:prstGeom>
        </p:spPr>
      </p:pic>
      <p:pic>
        <p:nvPicPr>
          <p:cNvPr id="112" name="그림 111">
            <a:extLst>
              <a:ext uri="{FF2B5EF4-FFF2-40B4-BE49-F238E27FC236}">
                <a16:creationId xmlns:a16="http://schemas.microsoft.com/office/drawing/2014/main" id="{A46F467A-B131-4CC2-9391-049B81CC57D9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219" t="6410" r="61396" b="61227"/>
          <a:stretch/>
        </p:blipFill>
        <p:spPr>
          <a:xfrm>
            <a:off x="4519766" y="4793987"/>
            <a:ext cx="3202150" cy="1746015"/>
          </a:xfrm>
          <a:prstGeom prst="rect">
            <a:avLst/>
          </a:prstGeom>
        </p:spPr>
      </p:pic>
      <p:sp>
        <p:nvSpPr>
          <p:cNvPr id="113" name="화살표: 오른쪽 112">
            <a:extLst>
              <a:ext uri="{FF2B5EF4-FFF2-40B4-BE49-F238E27FC236}">
                <a16:creationId xmlns:a16="http://schemas.microsoft.com/office/drawing/2014/main" id="{018E03C1-D9F7-46AB-A376-2E3171844A7D}"/>
              </a:ext>
            </a:extLst>
          </p:cNvPr>
          <p:cNvSpPr/>
          <p:nvPr/>
        </p:nvSpPr>
        <p:spPr>
          <a:xfrm>
            <a:off x="9056914" y="6000872"/>
            <a:ext cx="1216597" cy="352304"/>
          </a:xfrm>
          <a:prstGeom prst="rightArrow">
            <a:avLst>
              <a:gd name="adj1" fmla="val 50000"/>
              <a:gd name="adj2" fmla="val 93258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610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>
            <a:extLst>
              <a:ext uri="{FF2B5EF4-FFF2-40B4-BE49-F238E27FC236}">
                <a16:creationId xmlns:a16="http://schemas.microsoft.com/office/drawing/2014/main" id="{4E1986F8-E747-47EA-996D-467702A4D282}"/>
              </a:ext>
            </a:extLst>
          </p:cNvPr>
          <p:cNvGrpSpPr/>
          <p:nvPr/>
        </p:nvGrpSpPr>
        <p:grpSpPr>
          <a:xfrm>
            <a:off x="4527436" y="2389503"/>
            <a:ext cx="3261899" cy="2078994"/>
            <a:chOff x="2427701" y="1915691"/>
            <a:chExt cx="3261899" cy="207899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AD2D1CC-DF0F-4252-9433-F0A3AA9701BA}"/>
                </a:ext>
              </a:extLst>
            </p:cNvPr>
            <p:cNvSpPr txBox="1"/>
            <p:nvPr/>
          </p:nvSpPr>
          <p:spPr>
            <a:xfrm>
              <a:off x="2522318" y="3492047"/>
              <a:ext cx="3072663" cy="502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lang="en-US" altLang="ko-KR" sz="20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6AA8BF9-7ED9-4469-A28F-F7376E2E99AF}"/>
                </a:ext>
              </a:extLst>
            </p:cNvPr>
            <p:cNvSpPr txBox="1"/>
            <p:nvPr/>
          </p:nvSpPr>
          <p:spPr>
            <a:xfrm rot="5400000">
              <a:off x="3017959" y="1325433"/>
              <a:ext cx="1954381" cy="3134897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US" altLang="ko-KR" sz="11500" spc="-3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02</a:t>
              </a:r>
              <a:endParaRPr lang="ko-KR" altLang="en-US" sz="11500" spc="-3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DFEF3637-511D-4E26-B21F-0344BFAFC7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27701" y="3474050"/>
              <a:ext cx="3261899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D178F36-8FC0-4BF3-A358-0E575AC3A3CD}"/>
              </a:ext>
            </a:extLst>
          </p:cNvPr>
          <p:cNvSpPr txBox="1"/>
          <p:nvPr/>
        </p:nvSpPr>
        <p:spPr>
          <a:xfrm>
            <a:off x="4241799" y="3086038"/>
            <a:ext cx="5695203" cy="830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600" spc="-15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기능</a:t>
            </a:r>
            <a:endParaRPr lang="en-US" altLang="ko-KR" sz="3600" spc="-150" dirty="0"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1667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C83E7AE-80A5-4A97-BB48-A0BB899D6C1D}"/>
              </a:ext>
            </a:extLst>
          </p:cNvPr>
          <p:cNvCxnSpPr/>
          <p:nvPr/>
        </p:nvCxnSpPr>
        <p:spPr>
          <a:xfrm>
            <a:off x="2174875" y="1556842"/>
            <a:ext cx="78422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F35C553-B985-4D1D-9788-1B463782A0E0}"/>
              </a:ext>
            </a:extLst>
          </p:cNvPr>
          <p:cNvGrpSpPr/>
          <p:nvPr/>
        </p:nvGrpSpPr>
        <p:grpSpPr>
          <a:xfrm>
            <a:off x="3555349" y="636595"/>
            <a:ext cx="5081302" cy="927891"/>
            <a:chOff x="3724906" y="857682"/>
            <a:chExt cx="5081302" cy="92789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3827922-67D8-476B-A032-C9A507C578C8}"/>
                </a:ext>
              </a:extLst>
            </p:cNvPr>
            <p:cNvSpPr txBox="1"/>
            <p:nvPr/>
          </p:nvSpPr>
          <p:spPr>
            <a:xfrm>
              <a:off x="5472997" y="857682"/>
              <a:ext cx="15851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spc="-15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주요 기능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DAD2486-5225-49F4-BC52-108A1517C523}"/>
                </a:ext>
              </a:extLst>
            </p:cNvPr>
            <p:cNvSpPr txBox="1"/>
            <p:nvPr/>
          </p:nvSpPr>
          <p:spPr>
            <a:xfrm>
              <a:off x="3724906" y="1416241"/>
              <a:ext cx="508130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150" dirty="0">
                  <a:solidFill>
                    <a:prstClr val="black"/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“ </a:t>
              </a:r>
              <a:r>
                <a:rPr lang="ko-KR" altLang="en-US" spc="-150" dirty="0">
                  <a:solidFill>
                    <a:prstClr val="black"/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다중 잠금 </a:t>
              </a:r>
              <a:r>
                <a:rPr lang="en-US" altLang="ko-KR" spc="-150" dirty="0">
                  <a:solidFill>
                    <a:prstClr val="black"/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/ </a:t>
              </a:r>
              <a:r>
                <a:rPr lang="ko-KR" altLang="en-US" spc="-150" dirty="0">
                  <a:solidFill>
                    <a:prstClr val="black"/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인증을 통해 보안을 강화하는 방향에 초점</a:t>
              </a:r>
              <a:r>
                <a:rPr lang="en-US" altLang="ko-KR" spc="-150" dirty="0">
                  <a:solidFill>
                    <a:prstClr val="black"/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“</a:t>
              </a:r>
              <a:endParaRPr lang="ko-KR" altLang="en-US" spc="-150" dirty="0"/>
            </a:p>
          </p:txBody>
        </p: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79C83D7-19D6-4654-84F7-5985876E3E7F}"/>
              </a:ext>
            </a:extLst>
          </p:cNvPr>
          <p:cNvCxnSpPr/>
          <p:nvPr/>
        </p:nvCxnSpPr>
        <p:spPr>
          <a:xfrm>
            <a:off x="2254250" y="6367079"/>
            <a:ext cx="78422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F1E844A-2AA1-4117-8CF0-0F6906766984}"/>
              </a:ext>
            </a:extLst>
          </p:cNvPr>
          <p:cNvGrpSpPr/>
          <p:nvPr/>
        </p:nvGrpSpPr>
        <p:grpSpPr>
          <a:xfrm>
            <a:off x="-1103845" y="-19050"/>
            <a:ext cx="3059645" cy="933525"/>
            <a:chOff x="10359306" y="124840"/>
            <a:chExt cx="3059645" cy="93352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09CEB39-5F28-4BC7-B219-4C704A0AFA90}"/>
                </a:ext>
              </a:extLst>
            </p:cNvPr>
            <p:cNvSpPr txBox="1"/>
            <p:nvPr/>
          </p:nvSpPr>
          <p:spPr>
            <a:xfrm>
              <a:off x="10359306" y="555727"/>
              <a:ext cx="3059645" cy="502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20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 </a:t>
              </a:r>
              <a:r>
                <a:rPr lang="ko-KR" altLang="en-US" sz="1600" spc="-150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기능</a:t>
              </a:r>
              <a:endParaRPr lang="en-US" altLang="ko-KR" sz="2000" spc="-15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43F7F5C-AD1C-4352-B315-05550CD57F87}"/>
                </a:ext>
              </a:extLst>
            </p:cNvPr>
            <p:cNvSpPr txBox="1"/>
            <p:nvPr/>
          </p:nvSpPr>
          <p:spPr>
            <a:xfrm rot="5400000">
              <a:off x="11782843" y="-118969"/>
              <a:ext cx="861774" cy="1349392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US" altLang="ko-KR" sz="4400" spc="-3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02</a:t>
              </a:r>
              <a:endParaRPr lang="ko-KR" altLang="en-US" sz="4400" spc="-3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45F87D8-686F-424A-B2AD-51A95CF9BC96}"/>
              </a:ext>
            </a:extLst>
          </p:cNvPr>
          <p:cNvSpPr/>
          <p:nvPr/>
        </p:nvSpPr>
        <p:spPr>
          <a:xfrm>
            <a:off x="973670" y="1934414"/>
            <a:ext cx="508130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dirty="0">
                <a:solidFill>
                  <a:srgbClr val="3A3838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이중 잠금 </a:t>
            </a:r>
            <a:endParaRPr lang="en-US" altLang="ko-KR" sz="1000" dirty="0">
              <a:solidFill>
                <a:srgbClr val="3A3838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r>
              <a:rPr lang="ko-KR" altLang="en-US" sz="13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애플리케이션에서 잠금 설정 시</a:t>
            </a:r>
            <a:r>
              <a:rPr lang="en-US" altLang="ko-KR" sz="13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 </a:t>
            </a:r>
            <a:r>
              <a:rPr lang="ko-KR" altLang="en-US" sz="13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올바른 비밀번호를 입력하더라도</a:t>
            </a:r>
            <a:endParaRPr lang="en-US" altLang="ko-KR" sz="1300" dirty="0"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r>
              <a:rPr lang="ko-KR" altLang="en-US" sz="13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잠금이 해제되지 않도록 하는 기능</a:t>
            </a:r>
            <a:endParaRPr lang="en-US" altLang="ko-KR" sz="1300" dirty="0"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BEDC50B-DC79-4BD2-96C9-3ADF33CA6DED}"/>
              </a:ext>
            </a:extLst>
          </p:cNvPr>
          <p:cNvSpPr/>
          <p:nvPr/>
        </p:nvSpPr>
        <p:spPr>
          <a:xfrm>
            <a:off x="6480204" y="3173009"/>
            <a:ext cx="5114896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dirty="0">
                <a:solidFill>
                  <a:srgbClr val="3A3838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임시 비밀번호</a:t>
            </a:r>
            <a:endParaRPr lang="en-US" altLang="ko-KR" dirty="0">
              <a:solidFill>
                <a:srgbClr val="3A3838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  <a:p>
            <a:pPr fontAlgn="base"/>
            <a:r>
              <a:rPr lang="ko-KR" altLang="en-US" sz="1300" dirty="0">
                <a:solidFill>
                  <a:srgbClr val="3A3838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애플리케이션에서 외부인이 사용할 수 있는 일회성 비밀번호 발급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57D2D0B-7A01-4EEC-9A86-589AF4315FBD}"/>
              </a:ext>
            </a:extLst>
          </p:cNvPr>
          <p:cNvSpPr/>
          <p:nvPr/>
        </p:nvSpPr>
        <p:spPr>
          <a:xfrm>
            <a:off x="6480204" y="1940663"/>
            <a:ext cx="492757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dirty="0">
                <a:solidFill>
                  <a:srgbClr val="3A3838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얼굴 인식</a:t>
            </a:r>
            <a:endParaRPr lang="en-US" altLang="ko-KR" dirty="0">
              <a:solidFill>
                <a:srgbClr val="3A3838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  <a:p>
            <a:pPr fontAlgn="base"/>
            <a:r>
              <a:rPr lang="ko-KR" altLang="en-US" sz="1300" dirty="0">
                <a:solidFill>
                  <a:srgbClr val="3A3838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등록되지 않은 사용자가 잠금 해제를 시도하는 경우 사진 촬영한 후 애플리케이션에 데이터 전송</a:t>
            </a:r>
            <a:endParaRPr lang="en-US" altLang="ko-KR" sz="1300" dirty="0">
              <a:solidFill>
                <a:srgbClr val="3A3838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CE56567-DBEE-4104-BD00-CB37E5FA49F6}"/>
              </a:ext>
            </a:extLst>
          </p:cNvPr>
          <p:cNvSpPr/>
          <p:nvPr/>
        </p:nvSpPr>
        <p:spPr>
          <a:xfrm>
            <a:off x="973670" y="5351952"/>
            <a:ext cx="284616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1000" dirty="0">
                <a:solidFill>
                  <a:srgbClr val="3A3838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* </a:t>
            </a:r>
            <a:r>
              <a:rPr lang="ko-KR" altLang="en-US" sz="1000" dirty="0">
                <a:solidFill>
                  <a:srgbClr val="3A3838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화자 인식</a:t>
            </a:r>
            <a:endParaRPr lang="en-US" altLang="ko-KR" sz="1000" dirty="0">
              <a:solidFill>
                <a:srgbClr val="3A3838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  <a:p>
            <a:pPr fontAlgn="base"/>
            <a:r>
              <a:rPr lang="ko-KR" altLang="en-US" sz="1000" dirty="0">
                <a:solidFill>
                  <a:srgbClr val="3A3838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음성이 등록된 사용자가 </a:t>
            </a:r>
            <a:r>
              <a:rPr lang="en-US" altLang="ko-KR" sz="1000" dirty="0">
                <a:solidFill>
                  <a:srgbClr val="3A3838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‘</a:t>
            </a:r>
            <a:r>
              <a:rPr lang="ko-KR" altLang="en-US" sz="1000" dirty="0">
                <a:solidFill>
                  <a:srgbClr val="3A3838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오늘의 단어</a:t>
            </a:r>
            <a:r>
              <a:rPr lang="en-US" altLang="ko-KR" sz="1000" dirty="0">
                <a:solidFill>
                  <a:srgbClr val="3A3838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’</a:t>
            </a:r>
            <a:r>
              <a:rPr lang="ko-KR" altLang="en-US" sz="1000" dirty="0">
                <a:solidFill>
                  <a:srgbClr val="3A3838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를 말하면 이중 잠금 해제 조건 중 하나를 만족</a:t>
            </a:r>
            <a:endParaRPr lang="en-US" altLang="ko-KR" sz="1000" dirty="0">
              <a:solidFill>
                <a:srgbClr val="3A3838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fontAlgn="base"/>
            <a:endParaRPr lang="en-US" altLang="ko-KR" sz="1000" dirty="0">
              <a:solidFill>
                <a:srgbClr val="3A3838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pic>
        <p:nvPicPr>
          <p:cNvPr id="25" name="그래픽 24" descr="홈">
            <a:extLst>
              <a:ext uri="{FF2B5EF4-FFF2-40B4-BE49-F238E27FC236}">
                <a16:creationId xmlns:a16="http://schemas.microsoft.com/office/drawing/2014/main" id="{06AA3AA2-9000-47D6-AC73-EEAD6D7952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2694" y="2661491"/>
            <a:ext cx="1544419" cy="1544419"/>
          </a:xfrm>
          <a:prstGeom prst="rect">
            <a:avLst/>
          </a:prstGeom>
        </p:spPr>
      </p:pic>
      <p:pic>
        <p:nvPicPr>
          <p:cNvPr id="26" name="Picture 6" descr="https://lh6.googleusercontent.com/Q14V__usB5QY-BZk5jjSc-wgb40KXz70EzGF83KIhqFinRwv61ac1EnOxPSP1KzA4yyDBOEt7OJ6-oI4PSXkLKbMsI5lOSb23TjE3Rxc724X-uVFJCttFo1rXH7QJbvUnLmIqc7qEiuAZtZMGZuYiw=s2048">
            <a:extLst>
              <a:ext uri="{FF2B5EF4-FFF2-40B4-BE49-F238E27FC236}">
                <a16:creationId xmlns:a16="http://schemas.microsoft.com/office/drawing/2014/main" id="{3AF59C5E-C896-4DC3-BBBA-3FE114CE3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6271" y="3338767"/>
            <a:ext cx="589172" cy="589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 descr="https://lh6.googleusercontent.com/Q14V__usB5QY-BZk5jjSc-wgb40KXz70EzGF83KIhqFinRwv61ac1EnOxPSP1KzA4yyDBOEt7OJ6-oI4PSXkLKbMsI5lOSb23TjE3Rxc724X-uVFJCttFo1rXH7QJbvUnLmIqc7qEiuAZtZMGZuYiw=s2048">
            <a:extLst>
              <a:ext uri="{FF2B5EF4-FFF2-40B4-BE49-F238E27FC236}">
                <a16:creationId xmlns:a16="http://schemas.microsoft.com/office/drawing/2014/main" id="{BED6ADC2-420F-4722-8A15-46EB719E1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828" y="3340910"/>
            <a:ext cx="589172" cy="589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 descr="https://lh6.googleusercontent.com/Q14V__usB5QY-BZk5jjSc-wgb40KXz70EzGF83KIhqFinRwv61ac1EnOxPSP1KzA4yyDBOEt7OJ6-oI4PSXkLKbMsI5lOSb23TjE3Rxc724X-uVFJCttFo1rXH7QJbvUnLmIqc7qEiuAZtZMGZuYiw=s2048">
            <a:extLst>
              <a:ext uri="{FF2B5EF4-FFF2-40B4-BE49-F238E27FC236}">
                <a16:creationId xmlns:a16="http://schemas.microsoft.com/office/drawing/2014/main" id="{1D183298-523E-464D-A240-A76683BE8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123" y="4280735"/>
            <a:ext cx="589172" cy="589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6" descr="https://lh6.googleusercontent.com/Q14V__usB5QY-BZk5jjSc-wgb40KXz70EzGF83KIhqFinRwv61ac1EnOxPSP1KzA4yyDBOEt7OJ6-oI4PSXkLKbMsI5lOSb23TjE3Rxc724X-uVFJCttFo1rXH7QJbvUnLmIqc7qEiuAZtZMGZuYiw=s2048">
            <a:extLst>
              <a:ext uri="{FF2B5EF4-FFF2-40B4-BE49-F238E27FC236}">
                <a16:creationId xmlns:a16="http://schemas.microsoft.com/office/drawing/2014/main" id="{3EE43044-D987-44CE-BBE4-B447A95A8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680" y="4282878"/>
            <a:ext cx="589172" cy="589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" descr="https://lh6.googleusercontent.com/Q14V__usB5QY-BZk5jjSc-wgb40KXz70EzGF83KIhqFinRwv61ac1EnOxPSP1KzA4yyDBOEt7OJ6-oI4PSXkLKbMsI5lOSb23TjE3Rxc724X-uVFJCttFo1rXH7QJbvUnLmIqc7qEiuAZtZMGZuYiw=s2048">
            <a:extLst>
              <a:ext uri="{FF2B5EF4-FFF2-40B4-BE49-F238E27FC236}">
                <a16:creationId xmlns:a16="http://schemas.microsoft.com/office/drawing/2014/main" id="{DF96979D-136D-4812-BAEA-88E963500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8360" y="4276231"/>
            <a:ext cx="589172" cy="589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그래픽 30" descr="걷기">
            <a:extLst>
              <a:ext uri="{FF2B5EF4-FFF2-40B4-BE49-F238E27FC236}">
                <a16:creationId xmlns:a16="http://schemas.microsoft.com/office/drawing/2014/main" id="{AC841DF4-6B2D-41EF-BDA1-8BA9510A37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38073" y="3429000"/>
            <a:ext cx="714122" cy="714122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EE8653C2-0912-4EEE-AA00-E64F5E1BDD5C}"/>
              </a:ext>
            </a:extLst>
          </p:cNvPr>
          <p:cNvSpPr/>
          <p:nvPr/>
        </p:nvSpPr>
        <p:spPr>
          <a:xfrm>
            <a:off x="2468158" y="3451603"/>
            <a:ext cx="299402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9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음성 </a:t>
            </a:r>
            <a:r>
              <a:rPr lang="en-US" altLang="ko-KR" sz="9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&amp; </a:t>
            </a:r>
            <a:r>
              <a:rPr lang="ko-KR" altLang="en-US" sz="9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화자 </a:t>
            </a:r>
            <a:r>
              <a:rPr lang="en-US" altLang="ko-KR" sz="9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&amp; </a:t>
            </a:r>
            <a:r>
              <a:rPr lang="ko-KR" altLang="en-US" sz="9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비밀번호 일치 </a:t>
            </a:r>
            <a:endParaRPr lang="en-US" altLang="ko-KR" sz="900" dirty="0"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D9291700-0440-4F61-9574-34FD3098AC41}"/>
              </a:ext>
            </a:extLst>
          </p:cNvPr>
          <p:cNvSpPr/>
          <p:nvPr/>
        </p:nvSpPr>
        <p:spPr>
          <a:xfrm>
            <a:off x="3153229" y="3633354"/>
            <a:ext cx="1639124" cy="134936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C0958D3F-B360-45CB-915B-1E48E410D6EF}"/>
              </a:ext>
            </a:extLst>
          </p:cNvPr>
          <p:cNvSpPr/>
          <p:nvPr/>
        </p:nvSpPr>
        <p:spPr>
          <a:xfrm>
            <a:off x="3153432" y="4538927"/>
            <a:ext cx="1639124" cy="134936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6E3F0D2-B118-4D6B-8BAF-104EE7CF7A19}"/>
              </a:ext>
            </a:extLst>
          </p:cNvPr>
          <p:cNvSpPr/>
          <p:nvPr/>
        </p:nvSpPr>
        <p:spPr>
          <a:xfrm>
            <a:off x="2475981" y="4360524"/>
            <a:ext cx="299402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9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음성 </a:t>
            </a:r>
            <a:r>
              <a:rPr lang="en-US" altLang="ko-KR" sz="9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&amp; </a:t>
            </a:r>
            <a:r>
              <a:rPr lang="ko-KR" altLang="en-US" sz="9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화자 일치 </a:t>
            </a:r>
            <a:endParaRPr lang="en-US" altLang="ko-KR" sz="900" dirty="0"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7450EC4-7F25-4757-8B47-04835FE61F1C}"/>
              </a:ext>
            </a:extLst>
          </p:cNvPr>
          <p:cNvSpPr/>
          <p:nvPr/>
        </p:nvSpPr>
        <p:spPr>
          <a:xfrm>
            <a:off x="960970" y="3524386"/>
            <a:ext cx="99042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Door Lock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746548E-D44E-492F-85C9-416A9095C55C}"/>
              </a:ext>
            </a:extLst>
          </p:cNvPr>
          <p:cNvSpPr/>
          <p:nvPr/>
        </p:nvSpPr>
        <p:spPr>
          <a:xfrm>
            <a:off x="960970" y="4481811"/>
            <a:ext cx="106334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Application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38A02F0-5379-47A3-B936-17B0F5A4A0DC}"/>
              </a:ext>
            </a:extLst>
          </p:cNvPr>
          <p:cNvSpPr/>
          <p:nvPr/>
        </p:nvSpPr>
        <p:spPr>
          <a:xfrm>
            <a:off x="6480204" y="4276231"/>
            <a:ext cx="439417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dirty="0">
                <a:solidFill>
                  <a:srgbClr val="3A3838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원격제어 버튼</a:t>
            </a:r>
            <a:endParaRPr lang="en-US" altLang="ko-KR" dirty="0">
              <a:solidFill>
                <a:srgbClr val="3A3838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  <a:p>
            <a:pPr fontAlgn="base"/>
            <a:r>
              <a:rPr lang="ko-KR" altLang="en-US" sz="1300" dirty="0">
                <a:solidFill>
                  <a:srgbClr val="3A3838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어플리케이션 내의 잠금 및 해제 버튼으로 </a:t>
            </a:r>
            <a:r>
              <a:rPr lang="ko-KR" altLang="en-US" sz="1300" dirty="0" err="1">
                <a:solidFill>
                  <a:srgbClr val="3A3838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도어락</a:t>
            </a:r>
            <a:r>
              <a:rPr lang="ko-KR" altLang="en-US" sz="1300" dirty="0">
                <a:solidFill>
                  <a:srgbClr val="3A3838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원격 제어</a:t>
            </a:r>
            <a:endParaRPr lang="en-US" altLang="ko-KR" sz="1300" dirty="0">
              <a:solidFill>
                <a:srgbClr val="3A3838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fontAlgn="base"/>
            <a:r>
              <a:rPr lang="en-US" altLang="ko-KR" sz="1300" dirty="0">
                <a:solidFill>
                  <a:srgbClr val="3A3838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</a:t>
            </a:r>
            <a:r>
              <a:rPr lang="ko-KR" altLang="en-US" sz="1300" dirty="0">
                <a:solidFill>
                  <a:srgbClr val="3A3838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단</a:t>
            </a:r>
            <a:r>
              <a:rPr lang="en-US" altLang="ko-KR" sz="1300" dirty="0">
                <a:solidFill>
                  <a:srgbClr val="3A3838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300" dirty="0">
                <a:solidFill>
                  <a:srgbClr val="3A3838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이중 잠금 시에는 동작하지 않음</a:t>
            </a:r>
            <a:r>
              <a:rPr lang="en-US" altLang="ko-KR" sz="1300" dirty="0">
                <a:solidFill>
                  <a:srgbClr val="3A3838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  <a:endParaRPr lang="en-US" altLang="ko-KR" dirty="0">
              <a:solidFill>
                <a:srgbClr val="3A3838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275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572CBD15-4232-44F9-8CB7-C682E0521D78}"/>
              </a:ext>
            </a:extLst>
          </p:cNvPr>
          <p:cNvGrpSpPr/>
          <p:nvPr/>
        </p:nvGrpSpPr>
        <p:grpSpPr>
          <a:xfrm>
            <a:off x="4527436" y="2389503"/>
            <a:ext cx="3261899" cy="2078994"/>
            <a:chOff x="2427701" y="1915691"/>
            <a:chExt cx="3261899" cy="20789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F7C59D7-7B87-4D03-B11B-F146E1C373C0}"/>
                </a:ext>
              </a:extLst>
            </p:cNvPr>
            <p:cNvSpPr txBox="1"/>
            <p:nvPr/>
          </p:nvSpPr>
          <p:spPr>
            <a:xfrm>
              <a:off x="2522318" y="3492047"/>
              <a:ext cx="3072663" cy="502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lang="en-US" altLang="ko-KR" sz="20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26A7792-D3A1-4FC0-BCB8-DD1669840839}"/>
                </a:ext>
              </a:extLst>
            </p:cNvPr>
            <p:cNvSpPr txBox="1"/>
            <p:nvPr/>
          </p:nvSpPr>
          <p:spPr>
            <a:xfrm rot="5400000">
              <a:off x="3017959" y="1325433"/>
              <a:ext cx="1954381" cy="3134897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US" altLang="ko-KR" sz="11500" spc="-3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03</a:t>
              </a:r>
              <a:endParaRPr lang="ko-KR" altLang="en-US" sz="11500" spc="-3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7D784A-1D1F-4E9B-A4B2-BA2A5F45F6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27701" y="3474050"/>
              <a:ext cx="3261899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5FF0D8B-9A88-4D0E-B2BD-A537B6EC1281}"/>
              </a:ext>
            </a:extLst>
          </p:cNvPr>
          <p:cNvSpPr txBox="1"/>
          <p:nvPr/>
        </p:nvSpPr>
        <p:spPr>
          <a:xfrm>
            <a:off x="4241799" y="3086038"/>
            <a:ext cx="5695203" cy="830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600" spc="-15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구성도</a:t>
            </a:r>
            <a:endParaRPr lang="en-US" altLang="ko-KR" sz="3600" spc="-150" dirty="0"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6817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AF1E844A-2AA1-4117-8CF0-0F6906766984}"/>
              </a:ext>
            </a:extLst>
          </p:cNvPr>
          <p:cNvGrpSpPr/>
          <p:nvPr/>
        </p:nvGrpSpPr>
        <p:grpSpPr>
          <a:xfrm>
            <a:off x="-1103845" y="-19050"/>
            <a:ext cx="3072663" cy="933525"/>
            <a:chOff x="10359306" y="124840"/>
            <a:chExt cx="3072663" cy="93352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09CEB39-5F28-4BC7-B219-4C704A0AFA90}"/>
                </a:ext>
              </a:extLst>
            </p:cNvPr>
            <p:cNvSpPr txBox="1"/>
            <p:nvPr/>
          </p:nvSpPr>
          <p:spPr>
            <a:xfrm>
              <a:off x="10359306" y="555727"/>
              <a:ext cx="3072663" cy="502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20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 </a:t>
              </a:r>
              <a:r>
                <a:rPr lang="ko-KR" altLang="en-US" sz="1600" spc="-150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구성도</a:t>
              </a:r>
              <a:endParaRPr lang="en-US" altLang="ko-KR" sz="20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43F7F5C-AD1C-4352-B315-05550CD57F87}"/>
                </a:ext>
              </a:extLst>
            </p:cNvPr>
            <p:cNvSpPr txBox="1"/>
            <p:nvPr/>
          </p:nvSpPr>
          <p:spPr>
            <a:xfrm rot="5400000">
              <a:off x="11782843" y="-118969"/>
              <a:ext cx="861774" cy="1349392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US" altLang="ko-KR" sz="4400" spc="-3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03</a:t>
              </a:r>
              <a:endParaRPr lang="ko-KR" altLang="en-US" sz="4400" spc="-3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985EE62E-B01D-4B55-96C3-12B673834F75}"/>
              </a:ext>
            </a:extLst>
          </p:cNvPr>
          <p:cNvGrpSpPr/>
          <p:nvPr/>
        </p:nvGrpSpPr>
        <p:grpSpPr>
          <a:xfrm>
            <a:off x="2380863" y="316352"/>
            <a:ext cx="7430273" cy="6341407"/>
            <a:chOff x="708509" y="322561"/>
            <a:chExt cx="7430273" cy="6341407"/>
          </a:xfrm>
        </p:grpSpPr>
        <p:cxnSp>
          <p:nvCxnSpPr>
            <p:cNvPr id="94" name="직선 화살표 연결선 93">
              <a:extLst>
                <a:ext uri="{FF2B5EF4-FFF2-40B4-BE49-F238E27FC236}">
                  <a16:creationId xmlns:a16="http://schemas.microsoft.com/office/drawing/2014/main" id="{06460CF4-99DF-41D6-955A-CE4951BE1DAF}"/>
                </a:ext>
              </a:extLst>
            </p:cNvPr>
            <p:cNvCxnSpPr>
              <a:cxnSpLocks/>
            </p:cNvCxnSpPr>
            <p:nvPr/>
          </p:nvCxnSpPr>
          <p:spPr>
            <a:xfrm>
              <a:off x="2234272" y="4858845"/>
              <a:ext cx="1330458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95" name="그래픽 94" descr="Wi Fi">
              <a:extLst>
                <a:ext uri="{FF2B5EF4-FFF2-40B4-BE49-F238E27FC236}">
                  <a16:creationId xmlns:a16="http://schemas.microsoft.com/office/drawing/2014/main" id="{E7E46AAF-9238-4B1C-B5DD-3C8C5BAEB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593212" y="4308305"/>
              <a:ext cx="600970" cy="600970"/>
            </a:xfrm>
            <a:prstGeom prst="rect">
              <a:avLst/>
            </a:prstGeom>
          </p:spPr>
        </p:pic>
        <p:pic>
          <p:nvPicPr>
            <p:cNvPr id="96" name="그래픽 95" descr="스마트폰">
              <a:extLst>
                <a:ext uri="{FF2B5EF4-FFF2-40B4-BE49-F238E27FC236}">
                  <a16:creationId xmlns:a16="http://schemas.microsoft.com/office/drawing/2014/main" id="{2F9383B9-BC04-43CE-A33B-554F1E62F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72420" y="4481103"/>
              <a:ext cx="914400" cy="914400"/>
            </a:xfrm>
            <a:prstGeom prst="rect">
              <a:avLst/>
            </a:prstGeom>
          </p:spPr>
        </p:pic>
        <p:pic>
          <p:nvPicPr>
            <p:cNvPr id="97" name="그래픽 96" descr="스캐너">
              <a:extLst>
                <a:ext uri="{FF2B5EF4-FFF2-40B4-BE49-F238E27FC236}">
                  <a16:creationId xmlns:a16="http://schemas.microsoft.com/office/drawing/2014/main" id="{CD8DAC66-0122-4E3B-A2CA-CDA6A00EBBC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955061" y="4442172"/>
              <a:ext cx="914400" cy="914400"/>
            </a:xfrm>
            <a:prstGeom prst="rect">
              <a:avLst/>
            </a:prstGeom>
          </p:spPr>
        </p:pic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8566C1C5-37AC-464F-9546-9B60A55D7D07}"/>
                </a:ext>
              </a:extLst>
            </p:cNvPr>
            <p:cNvGrpSpPr/>
            <p:nvPr/>
          </p:nvGrpSpPr>
          <p:grpSpPr>
            <a:xfrm rot="5400000">
              <a:off x="5730738" y="4472805"/>
              <a:ext cx="371765" cy="245243"/>
              <a:chOff x="1612021" y="520699"/>
              <a:chExt cx="509756" cy="291064"/>
            </a:xfrm>
          </p:grpSpPr>
          <p:sp>
            <p:nvSpPr>
              <p:cNvPr id="121" name="이등변 삼각형 120">
                <a:extLst>
                  <a:ext uri="{FF2B5EF4-FFF2-40B4-BE49-F238E27FC236}">
                    <a16:creationId xmlns:a16="http://schemas.microsoft.com/office/drawing/2014/main" id="{05CD1472-2E1E-4304-B321-1D463D722F4E}"/>
                  </a:ext>
                </a:extLst>
              </p:cNvPr>
              <p:cNvSpPr/>
              <p:nvPr/>
            </p:nvSpPr>
            <p:spPr>
              <a:xfrm>
                <a:off x="1612021" y="520699"/>
                <a:ext cx="254878" cy="177800"/>
              </a:xfrm>
              <a:prstGeom prst="triangle">
                <a:avLst/>
              </a:prstGeom>
              <a:ln w="571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2" name="이등변 삼각형 121">
                <a:extLst>
                  <a:ext uri="{FF2B5EF4-FFF2-40B4-BE49-F238E27FC236}">
                    <a16:creationId xmlns:a16="http://schemas.microsoft.com/office/drawing/2014/main" id="{3AAB4072-41D4-4794-A247-55C22E416B74}"/>
                  </a:ext>
                </a:extLst>
              </p:cNvPr>
              <p:cNvSpPr/>
              <p:nvPr/>
            </p:nvSpPr>
            <p:spPr>
              <a:xfrm>
                <a:off x="1866900" y="520700"/>
                <a:ext cx="254877" cy="177800"/>
              </a:xfrm>
              <a:prstGeom prst="triangle">
                <a:avLst/>
              </a:prstGeom>
              <a:ln w="571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23" name="직선 연결선 122">
                <a:extLst>
                  <a:ext uri="{FF2B5EF4-FFF2-40B4-BE49-F238E27FC236}">
                    <a16:creationId xmlns:a16="http://schemas.microsoft.com/office/drawing/2014/main" id="{7FCFAAA2-6D81-458C-B44C-3868820FAE49}"/>
                  </a:ext>
                </a:extLst>
              </p:cNvPr>
              <p:cNvCxnSpPr>
                <a:stCxn id="122" idx="2"/>
              </p:cNvCxnSpPr>
              <p:nvPr/>
            </p:nvCxnSpPr>
            <p:spPr>
              <a:xfrm flipH="1">
                <a:off x="1739461" y="698500"/>
                <a:ext cx="127439" cy="113263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>
                <a:extLst>
                  <a:ext uri="{FF2B5EF4-FFF2-40B4-BE49-F238E27FC236}">
                    <a16:creationId xmlns:a16="http://schemas.microsoft.com/office/drawing/2014/main" id="{960B83C5-BD56-4F39-B74D-B81816ED9B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91862" y="710102"/>
                <a:ext cx="102476" cy="97576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6126832-4322-49CB-B3BF-B277AF94EE3D}"/>
                </a:ext>
              </a:extLst>
            </p:cNvPr>
            <p:cNvSpPr txBox="1"/>
            <p:nvPr/>
          </p:nvSpPr>
          <p:spPr>
            <a:xfrm>
              <a:off x="720110" y="3764548"/>
              <a:ext cx="16260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User</a:t>
              </a:r>
              <a:endParaRPr lang="ko-KR" altLang="en-US" b="1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CFB64918-8DFE-43AA-A4DF-8383194F864E}"/>
                </a:ext>
              </a:extLst>
            </p:cNvPr>
            <p:cNvSpPr txBox="1"/>
            <p:nvPr/>
          </p:nvSpPr>
          <p:spPr>
            <a:xfrm>
              <a:off x="3714365" y="3745062"/>
              <a:ext cx="13935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Gateway</a:t>
              </a:r>
              <a:endParaRPr lang="ko-KR" altLang="en-US" b="1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3427E911-7494-41A1-AEBB-A9C023B8B2FA}"/>
                </a:ext>
              </a:extLst>
            </p:cNvPr>
            <p:cNvSpPr txBox="1"/>
            <p:nvPr/>
          </p:nvSpPr>
          <p:spPr>
            <a:xfrm>
              <a:off x="708509" y="4133880"/>
              <a:ext cx="1626079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300" b="1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Application</a:t>
              </a:r>
              <a:endParaRPr lang="ko-KR" altLang="en-US" sz="1300" b="1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cxnSp>
          <p:nvCxnSpPr>
            <p:cNvPr id="102" name="직선 화살표 연결선 101">
              <a:extLst>
                <a:ext uri="{FF2B5EF4-FFF2-40B4-BE49-F238E27FC236}">
                  <a16:creationId xmlns:a16="http://schemas.microsoft.com/office/drawing/2014/main" id="{CA2136B7-4682-4D52-A0E4-7A49742A4D32}"/>
                </a:ext>
              </a:extLst>
            </p:cNvPr>
            <p:cNvCxnSpPr>
              <a:cxnSpLocks/>
            </p:cNvCxnSpPr>
            <p:nvPr/>
          </p:nvCxnSpPr>
          <p:spPr>
            <a:xfrm rot="18978491">
              <a:off x="1981960" y="2585108"/>
              <a:ext cx="1330458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03" name="그래픽 102" descr="Wi Fi">
              <a:extLst>
                <a:ext uri="{FF2B5EF4-FFF2-40B4-BE49-F238E27FC236}">
                  <a16:creationId xmlns:a16="http://schemas.microsoft.com/office/drawing/2014/main" id="{3233DB33-7064-4500-8490-D7CD963C8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62421" y="2110280"/>
              <a:ext cx="600970" cy="600970"/>
            </a:xfrm>
            <a:prstGeom prst="rect">
              <a:avLst/>
            </a:prstGeom>
          </p:spPr>
        </p:pic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1113E82-8E44-464A-A3ED-F5781683E53A}"/>
                </a:ext>
              </a:extLst>
            </p:cNvPr>
            <p:cNvSpPr txBox="1"/>
            <p:nvPr/>
          </p:nvSpPr>
          <p:spPr>
            <a:xfrm>
              <a:off x="3633356" y="322561"/>
              <a:ext cx="16260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Server</a:t>
              </a:r>
              <a:endParaRPr lang="ko-KR" altLang="en-US" b="1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</p:txBody>
        </p:sp>
        <p:cxnSp>
          <p:nvCxnSpPr>
            <p:cNvPr id="105" name="직선 화살표 연결선 104">
              <a:extLst>
                <a:ext uri="{FF2B5EF4-FFF2-40B4-BE49-F238E27FC236}">
                  <a16:creationId xmlns:a16="http://schemas.microsoft.com/office/drawing/2014/main" id="{32C1CB8D-CC74-470D-94FA-42F5D73539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12261" y="2161601"/>
              <a:ext cx="0" cy="122736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06" name="그래픽 105" descr="Wi Fi">
              <a:extLst>
                <a:ext uri="{FF2B5EF4-FFF2-40B4-BE49-F238E27FC236}">
                  <a16:creationId xmlns:a16="http://schemas.microsoft.com/office/drawing/2014/main" id="{B4A6189C-221A-4833-9AF1-5EFBD8487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46397" y="2513417"/>
              <a:ext cx="600970" cy="600970"/>
            </a:xfrm>
            <a:prstGeom prst="rect">
              <a:avLst/>
            </a:prstGeom>
          </p:spPr>
        </p:pic>
        <p:cxnSp>
          <p:nvCxnSpPr>
            <p:cNvPr id="107" name="직선 화살표 연결선 106">
              <a:extLst>
                <a:ext uri="{FF2B5EF4-FFF2-40B4-BE49-F238E27FC236}">
                  <a16:creationId xmlns:a16="http://schemas.microsoft.com/office/drawing/2014/main" id="{5F485F9F-8D92-4A59-A3FA-812996F3138C}"/>
                </a:ext>
              </a:extLst>
            </p:cNvPr>
            <p:cNvCxnSpPr>
              <a:cxnSpLocks/>
            </p:cNvCxnSpPr>
            <p:nvPr/>
          </p:nvCxnSpPr>
          <p:spPr>
            <a:xfrm>
              <a:off x="5305931" y="4887420"/>
              <a:ext cx="132907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08" name="그래픽 107" descr="구름">
              <a:extLst>
                <a:ext uri="{FF2B5EF4-FFF2-40B4-BE49-F238E27FC236}">
                  <a16:creationId xmlns:a16="http://schemas.microsoft.com/office/drawing/2014/main" id="{6C4FC6B6-B712-4F64-96F2-C455262E000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590167" y="1059777"/>
              <a:ext cx="914400" cy="914400"/>
            </a:xfrm>
            <a:prstGeom prst="rect">
              <a:avLst/>
            </a:prstGeom>
          </p:spPr>
        </p:pic>
        <p:pic>
          <p:nvPicPr>
            <p:cNvPr id="109" name="그래픽 108" descr="컴퓨터">
              <a:extLst>
                <a:ext uri="{FF2B5EF4-FFF2-40B4-BE49-F238E27FC236}">
                  <a16:creationId xmlns:a16="http://schemas.microsoft.com/office/drawing/2014/main" id="{0BD50A7F-CF34-41EE-9D71-A3AA696874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633356" y="627110"/>
              <a:ext cx="914400" cy="914400"/>
            </a:xfrm>
            <a:prstGeom prst="rect">
              <a:avLst/>
            </a:prstGeom>
          </p:spPr>
        </p:pic>
        <p:pic>
          <p:nvPicPr>
            <p:cNvPr id="110" name="그래픽 109" descr="자물쇠">
              <a:extLst>
                <a:ext uri="{FF2B5EF4-FFF2-40B4-BE49-F238E27FC236}">
                  <a16:creationId xmlns:a16="http://schemas.microsoft.com/office/drawing/2014/main" id="{33C88003-8F38-4891-BB39-F840D34A7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967012" y="4423470"/>
              <a:ext cx="715677" cy="715677"/>
            </a:xfrm>
            <a:prstGeom prst="rect">
              <a:avLst/>
            </a:prstGeom>
          </p:spPr>
        </p:pic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76596554-F218-4A6F-9FC7-F6773D225ADB}"/>
                </a:ext>
              </a:extLst>
            </p:cNvPr>
            <p:cNvSpPr txBox="1"/>
            <p:nvPr/>
          </p:nvSpPr>
          <p:spPr>
            <a:xfrm>
              <a:off x="6511810" y="3743614"/>
              <a:ext cx="16260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Door Lock</a:t>
              </a:r>
              <a:endParaRPr lang="ko-KR" altLang="en-US" b="1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44F82DC8-A35B-45EA-B8FD-83FDDBE51E48}"/>
                </a:ext>
              </a:extLst>
            </p:cNvPr>
            <p:cNvSpPr txBox="1"/>
            <p:nvPr/>
          </p:nvSpPr>
          <p:spPr>
            <a:xfrm>
              <a:off x="3697821" y="4112946"/>
              <a:ext cx="1533659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300" b="1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Raspberry Pi 4</a:t>
              </a:r>
              <a:endParaRPr lang="ko-KR" altLang="en-US" sz="1300" b="1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CDF9C85E-767A-42D7-99D8-410754CD6BE7}"/>
                </a:ext>
              </a:extLst>
            </p:cNvPr>
            <p:cNvSpPr txBox="1"/>
            <p:nvPr/>
          </p:nvSpPr>
          <p:spPr>
            <a:xfrm>
              <a:off x="6511810" y="4113779"/>
              <a:ext cx="1626079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300" b="1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Raspberry Pi Pico</a:t>
              </a:r>
              <a:endParaRPr lang="ko-KR" altLang="en-US" sz="1300" b="1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cxnSp>
          <p:nvCxnSpPr>
            <p:cNvPr id="114" name="직선 연결선 113">
              <a:extLst>
                <a:ext uri="{FF2B5EF4-FFF2-40B4-BE49-F238E27FC236}">
                  <a16:creationId xmlns:a16="http://schemas.microsoft.com/office/drawing/2014/main" id="{10365035-D890-4820-95B4-74D74F20041F}"/>
                </a:ext>
              </a:extLst>
            </p:cNvPr>
            <p:cNvCxnSpPr/>
            <p:nvPr/>
          </p:nvCxnSpPr>
          <p:spPr>
            <a:xfrm flipV="1">
              <a:off x="4412261" y="1160035"/>
              <a:ext cx="354001" cy="44994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AF1E8531-ED15-4CEF-BFB1-E698EF88112B}"/>
                </a:ext>
              </a:extLst>
            </p:cNvPr>
            <p:cNvSpPr/>
            <p:nvPr/>
          </p:nvSpPr>
          <p:spPr>
            <a:xfrm>
              <a:off x="6512703" y="5168135"/>
              <a:ext cx="1626079" cy="403253"/>
            </a:xfrm>
            <a:prstGeom prst="rect">
              <a:avLst/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F2A552C4-7E13-4EC8-83FD-9442656EAFF8}"/>
                </a:ext>
              </a:extLst>
            </p:cNvPr>
            <p:cNvSpPr/>
            <p:nvPr/>
          </p:nvSpPr>
          <p:spPr>
            <a:xfrm>
              <a:off x="6653345" y="5272719"/>
              <a:ext cx="134581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Camera Module</a:t>
              </a:r>
              <a:endParaRPr lang="ko-KR" altLang="en-US" sz="10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D89BC95A-CF0A-4D3C-9273-C7BFB179637A}"/>
                </a:ext>
              </a:extLst>
            </p:cNvPr>
            <p:cNvSpPr/>
            <p:nvPr/>
          </p:nvSpPr>
          <p:spPr>
            <a:xfrm>
              <a:off x="6512703" y="5713413"/>
              <a:ext cx="1626079" cy="403253"/>
            </a:xfrm>
            <a:prstGeom prst="rect">
              <a:avLst/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B65A5A06-DC18-47C6-AAAF-16DBDA823AAE}"/>
                </a:ext>
              </a:extLst>
            </p:cNvPr>
            <p:cNvSpPr/>
            <p:nvPr/>
          </p:nvSpPr>
          <p:spPr>
            <a:xfrm>
              <a:off x="6536500" y="5817927"/>
              <a:ext cx="160228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Microphone Module</a:t>
              </a:r>
              <a:endParaRPr lang="ko-KR" altLang="en-US" sz="10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810A33EF-2E59-42EA-A63F-8FEA8CCAC859}"/>
                </a:ext>
              </a:extLst>
            </p:cNvPr>
            <p:cNvSpPr/>
            <p:nvPr/>
          </p:nvSpPr>
          <p:spPr>
            <a:xfrm>
              <a:off x="6579806" y="6360219"/>
              <a:ext cx="141935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000000"/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Ultrasonic sensors</a:t>
              </a:r>
              <a:endParaRPr lang="ko-KR" altLang="en-US" sz="10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3D68489A-2389-46D0-B28A-C226E22ABBFE}"/>
                </a:ext>
              </a:extLst>
            </p:cNvPr>
            <p:cNvSpPr/>
            <p:nvPr/>
          </p:nvSpPr>
          <p:spPr>
            <a:xfrm>
              <a:off x="6512703" y="6260715"/>
              <a:ext cx="1626079" cy="403253"/>
            </a:xfrm>
            <a:prstGeom prst="rect">
              <a:avLst/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0632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AF1E844A-2AA1-4117-8CF0-0F6906766984}"/>
              </a:ext>
            </a:extLst>
          </p:cNvPr>
          <p:cNvGrpSpPr/>
          <p:nvPr/>
        </p:nvGrpSpPr>
        <p:grpSpPr>
          <a:xfrm>
            <a:off x="-1103845" y="-19050"/>
            <a:ext cx="3072663" cy="933525"/>
            <a:chOff x="10359306" y="124840"/>
            <a:chExt cx="3072663" cy="93352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09CEB39-5F28-4BC7-B219-4C704A0AFA90}"/>
                </a:ext>
              </a:extLst>
            </p:cNvPr>
            <p:cNvSpPr txBox="1"/>
            <p:nvPr/>
          </p:nvSpPr>
          <p:spPr>
            <a:xfrm>
              <a:off x="10359306" y="555727"/>
              <a:ext cx="3072663" cy="502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20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 </a:t>
              </a:r>
              <a:r>
                <a:rPr lang="ko-KR" altLang="en-US" sz="1600" spc="-150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구성도</a:t>
              </a:r>
              <a:endParaRPr lang="en-US" altLang="ko-KR" sz="20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43F7F5C-AD1C-4352-B315-05550CD57F87}"/>
                </a:ext>
              </a:extLst>
            </p:cNvPr>
            <p:cNvSpPr txBox="1"/>
            <p:nvPr/>
          </p:nvSpPr>
          <p:spPr>
            <a:xfrm rot="5400000">
              <a:off x="11782843" y="-118969"/>
              <a:ext cx="861774" cy="1349392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US" altLang="ko-KR" sz="4400" spc="-3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03</a:t>
              </a:r>
              <a:endParaRPr lang="ko-KR" altLang="en-US" sz="4400" spc="-3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E287B290-7D87-408F-A5F4-1D4BAB215EDE}"/>
              </a:ext>
            </a:extLst>
          </p:cNvPr>
          <p:cNvCxnSpPr/>
          <p:nvPr/>
        </p:nvCxnSpPr>
        <p:spPr>
          <a:xfrm>
            <a:off x="2174875" y="1191630"/>
            <a:ext cx="78422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A6EB7D4-B48B-46D1-A2E3-0B4BEA2EE1E9}"/>
              </a:ext>
            </a:extLst>
          </p:cNvPr>
          <p:cNvSpPr txBox="1"/>
          <p:nvPr/>
        </p:nvSpPr>
        <p:spPr>
          <a:xfrm>
            <a:off x="4775730" y="581114"/>
            <a:ext cx="2640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spc="-15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얼굴 인식 흐름도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D1A7996D-DB23-4723-B56F-53E76D84027A}"/>
              </a:ext>
            </a:extLst>
          </p:cNvPr>
          <p:cNvCxnSpPr/>
          <p:nvPr/>
        </p:nvCxnSpPr>
        <p:spPr>
          <a:xfrm>
            <a:off x="2254250" y="6367079"/>
            <a:ext cx="78422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1D1DC9CC-2EF8-4E1E-925C-AEF20CD387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148" t="3611" r="7657"/>
          <a:stretch/>
        </p:blipFill>
        <p:spPr>
          <a:xfrm>
            <a:off x="2584105" y="1311970"/>
            <a:ext cx="7023789" cy="499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352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AF1E844A-2AA1-4117-8CF0-0F6906766984}"/>
              </a:ext>
            </a:extLst>
          </p:cNvPr>
          <p:cNvGrpSpPr/>
          <p:nvPr/>
        </p:nvGrpSpPr>
        <p:grpSpPr>
          <a:xfrm>
            <a:off x="-1103845" y="-19050"/>
            <a:ext cx="3072663" cy="933525"/>
            <a:chOff x="10359306" y="124840"/>
            <a:chExt cx="3072663" cy="93352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09CEB39-5F28-4BC7-B219-4C704A0AFA90}"/>
                </a:ext>
              </a:extLst>
            </p:cNvPr>
            <p:cNvSpPr txBox="1"/>
            <p:nvPr/>
          </p:nvSpPr>
          <p:spPr>
            <a:xfrm>
              <a:off x="10359306" y="555727"/>
              <a:ext cx="3072663" cy="502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20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 </a:t>
              </a:r>
              <a:r>
                <a:rPr lang="ko-KR" altLang="en-US" sz="1600" spc="-150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구성도</a:t>
              </a:r>
              <a:endParaRPr lang="en-US" altLang="ko-KR" sz="20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43F7F5C-AD1C-4352-B315-05550CD57F87}"/>
                </a:ext>
              </a:extLst>
            </p:cNvPr>
            <p:cNvSpPr txBox="1"/>
            <p:nvPr/>
          </p:nvSpPr>
          <p:spPr>
            <a:xfrm rot="5400000">
              <a:off x="11782843" y="-118969"/>
              <a:ext cx="861774" cy="1349392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US" altLang="ko-KR" sz="4400" spc="-3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03</a:t>
              </a:r>
              <a:endParaRPr lang="ko-KR" altLang="en-US" sz="4400" spc="-3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E287B290-7D87-408F-A5F4-1D4BAB215EDE}"/>
              </a:ext>
            </a:extLst>
          </p:cNvPr>
          <p:cNvCxnSpPr/>
          <p:nvPr/>
        </p:nvCxnSpPr>
        <p:spPr>
          <a:xfrm>
            <a:off x="2174875" y="1191630"/>
            <a:ext cx="78422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A6EB7D4-B48B-46D1-A2E3-0B4BEA2EE1E9}"/>
              </a:ext>
            </a:extLst>
          </p:cNvPr>
          <p:cNvSpPr txBox="1"/>
          <p:nvPr/>
        </p:nvSpPr>
        <p:spPr>
          <a:xfrm>
            <a:off x="4775730" y="581114"/>
            <a:ext cx="2640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spc="-15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이중 잠금 흐름도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D1A7996D-DB23-4723-B56F-53E76D84027A}"/>
              </a:ext>
            </a:extLst>
          </p:cNvPr>
          <p:cNvCxnSpPr/>
          <p:nvPr/>
        </p:nvCxnSpPr>
        <p:spPr>
          <a:xfrm>
            <a:off x="2254250" y="6367079"/>
            <a:ext cx="78422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32EC20FB-FEE3-4AE4-8FDE-17EADA315C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148" t="3386" r="2738" b="1588"/>
          <a:stretch/>
        </p:blipFill>
        <p:spPr>
          <a:xfrm>
            <a:off x="2503676" y="1359768"/>
            <a:ext cx="7343397" cy="483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159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6FB52113-A9C4-4F85-8FB0-1F22BA8904E5}"/>
              </a:ext>
            </a:extLst>
          </p:cNvPr>
          <p:cNvGrpSpPr/>
          <p:nvPr/>
        </p:nvGrpSpPr>
        <p:grpSpPr>
          <a:xfrm>
            <a:off x="4208122" y="2389503"/>
            <a:ext cx="5728880" cy="2078994"/>
            <a:chOff x="2108387" y="1915691"/>
            <a:chExt cx="5728880" cy="2078994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572CBD15-4232-44F9-8CB7-C682E0521D78}"/>
                </a:ext>
              </a:extLst>
            </p:cNvPr>
            <p:cNvGrpSpPr/>
            <p:nvPr/>
          </p:nvGrpSpPr>
          <p:grpSpPr>
            <a:xfrm>
              <a:off x="2108387" y="1915691"/>
              <a:ext cx="3581213" cy="2078994"/>
              <a:chOff x="2108387" y="1915691"/>
              <a:chExt cx="3581213" cy="2078994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7C59D7-7B87-4D03-B11B-F146E1C373C0}"/>
                  </a:ext>
                </a:extLst>
              </p:cNvPr>
              <p:cNvSpPr txBox="1"/>
              <p:nvPr/>
            </p:nvSpPr>
            <p:spPr>
              <a:xfrm>
                <a:off x="2522318" y="3492047"/>
                <a:ext cx="3072663" cy="5026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endParaRPr lang="en-US" altLang="ko-KR" sz="20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26A7792-D3A1-4FC0-BCB8-DD1669840839}"/>
                  </a:ext>
                </a:extLst>
              </p:cNvPr>
              <p:cNvSpPr txBox="1"/>
              <p:nvPr/>
            </p:nvSpPr>
            <p:spPr>
              <a:xfrm rot="5400000">
                <a:off x="2698645" y="1325433"/>
                <a:ext cx="1954381" cy="3134897"/>
              </a:xfrm>
              <a:prstGeom prst="rect">
                <a:avLst/>
              </a:prstGeom>
              <a:noFill/>
            </p:spPr>
            <p:txBody>
              <a:bodyPr vert="vert270" wrap="square" rtlCol="0">
                <a:spAutoFit/>
              </a:bodyPr>
              <a:lstStyle/>
              <a:p>
                <a:r>
                  <a:rPr lang="en-US" altLang="ko-KR" sz="11500" spc="-300" dirty="0">
                    <a:latin typeface="에스코어 드림 9 Black" panose="020B0A03030302020204" pitchFamily="34" charset="-127"/>
                    <a:ea typeface="에스코어 드림 9 Black" panose="020B0A03030302020204" pitchFamily="34" charset="-127"/>
                  </a:rPr>
                  <a:t>04</a:t>
                </a:r>
                <a:endParaRPr lang="ko-KR" altLang="en-US" sz="11500" spc="-3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endParaRPr>
              </a:p>
            </p:txBody>
          </p: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EE7D784A-1D1F-4E9B-A4B2-BA2A5F45F6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27701" y="3474050"/>
                <a:ext cx="3261899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7E44F31-6598-4E94-AE4E-CBF34DEF51A4}"/>
                </a:ext>
              </a:extLst>
            </p:cNvPr>
            <p:cNvSpPr txBox="1"/>
            <p:nvPr/>
          </p:nvSpPr>
          <p:spPr>
            <a:xfrm>
              <a:off x="2142064" y="2612226"/>
              <a:ext cx="5695203" cy="8308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3600" spc="-15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핵심 기술</a:t>
              </a:r>
              <a:endParaRPr lang="en-US" altLang="ko-KR" sz="3600" spc="-15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7118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C83E7AE-80A5-4A97-BB48-A0BB899D6C1D}"/>
              </a:ext>
            </a:extLst>
          </p:cNvPr>
          <p:cNvCxnSpPr/>
          <p:nvPr/>
        </p:nvCxnSpPr>
        <p:spPr>
          <a:xfrm>
            <a:off x="2174875" y="1191630"/>
            <a:ext cx="78422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3827922-67D8-476B-A032-C9A507C578C8}"/>
              </a:ext>
            </a:extLst>
          </p:cNvPr>
          <p:cNvSpPr txBox="1"/>
          <p:nvPr/>
        </p:nvSpPr>
        <p:spPr>
          <a:xfrm>
            <a:off x="4907857" y="611951"/>
            <a:ext cx="2376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spc="-15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얼굴 인식 모델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79C83D7-19D6-4654-84F7-5985876E3E7F}"/>
              </a:ext>
            </a:extLst>
          </p:cNvPr>
          <p:cNvCxnSpPr/>
          <p:nvPr/>
        </p:nvCxnSpPr>
        <p:spPr>
          <a:xfrm>
            <a:off x="2229109" y="6460011"/>
            <a:ext cx="78422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F1E844A-2AA1-4117-8CF0-0F6906766984}"/>
              </a:ext>
            </a:extLst>
          </p:cNvPr>
          <p:cNvGrpSpPr/>
          <p:nvPr/>
        </p:nvGrpSpPr>
        <p:grpSpPr>
          <a:xfrm>
            <a:off x="-1103845" y="-19050"/>
            <a:ext cx="3072663" cy="1395190"/>
            <a:chOff x="10359306" y="124840"/>
            <a:chExt cx="3072663" cy="139519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09CEB39-5F28-4BC7-B219-4C704A0AFA90}"/>
                </a:ext>
              </a:extLst>
            </p:cNvPr>
            <p:cNvSpPr txBox="1"/>
            <p:nvPr/>
          </p:nvSpPr>
          <p:spPr>
            <a:xfrm>
              <a:off x="10359306" y="555727"/>
              <a:ext cx="3072663" cy="9643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20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 </a:t>
              </a:r>
              <a:r>
                <a:rPr lang="ko-KR" altLang="en-US" sz="1600" spc="-150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핵심 기술</a:t>
              </a:r>
              <a:endParaRPr lang="en-US" altLang="ko-KR" sz="2000" spc="-15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algn="ctr">
                <a:lnSpc>
                  <a:spcPct val="150000"/>
                </a:lnSpc>
              </a:pPr>
              <a:endParaRPr lang="en-US" altLang="ko-KR" sz="20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43F7F5C-AD1C-4352-B315-05550CD57F87}"/>
                </a:ext>
              </a:extLst>
            </p:cNvPr>
            <p:cNvSpPr txBox="1"/>
            <p:nvPr/>
          </p:nvSpPr>
          <p:spPr>
            <a:xfrm rot="5400000">
              <a:off x="11782843" y="-118969"/>
              <a:ext cx="861774" cy="1349392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US" altLang="ko-KR" sz="4400" spc="-3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04</a:t>
              </a:r>
              <a:endParaRPr lang="ko-KR" altLang="en-US" sz="4400" spc="-3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AEBE0AE-4E9C-42E0-8BB9-B0C38D53DC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441677"/>
              </p:ext>
            </p:extLst>
          </p:nvPr>
        </p:nvGraphicFramePr>
        <p:xfrm>
          <a:off x="1841659" y="1757368"/>
          <a:ext cx="8508682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889">
                  <a:extLst>
                    <a:ext uri="{9D8B030D-6E8A-4147-A177-3AD203B41FA5}">
                      <a16:colId xmlns:a16="http://schemas.microsoft.com/office/drawing/2014/main" val="1677776806"/>
                    </a:ext>
                  </a:extLst>
                </a:gridCol>
                <a:gridCol w="2227496">
                  <a:extLst>
                    <a:ext uri="{9D8B030D-6E8A-4147-A177-3AD203B41FA5}">
                      <a16:colId xmlns:a16="http://schemas.microsoft.com/office/drawing/2014/main" val="635148538"/>
                    </a:ext>
                  </a:extLst>
                </a:gridCol>
                <a:gridCol w="2479136">
                  <a:extLst>
                    <a:ext uri="{9D8B030D-6E8A-4147-A177-3AD203B41FA5}">
                      <a16:colId xmlns:a16="http://schemas.microsoft.com/office/drawing/2014/main" val="1999274071"/>
                    </a:ext>
                  </a:extLst>
                </a:gridCol>
                <a:gridCol w="2643161">
                  <a:extLst>
                    <a:ext uri="{9D8B030D-6E8A-4147-A177-3AD203B41FA5}">
                      <a16:colId xmlns:a16="http://schemas.microsoft.com/office/drawing/2014/main" val="3209209005"/>
                    </a:ext>
                  </a:extLst>
                </a:gridCol>
              </a:tblGrid>
              <a:tr h="24105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2 ExtraLight" panose="020B0203030302020204" pitchFamily="34" charset="-127"/>
                        <a:ea typeface="에스코어 드림 2 ExtraLight" panose="020B0203030302020204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Haar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Cascade</a:t>
                      </a:r>
                      <a:endParaRPr lang="en-US" altLang="ko-KR" sz="1000" b="0" i="0" dirty="0"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Histogram of Oriented Gradients (HOG)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Convolutional Neural Network (CNN)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05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장점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빠른 속도와 높은 정확도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에스코어 드림 2 ExtraLight" panose="020B0203030302020204" pitchFamily="34" charset="-127"/>
                        <a:ea typeface="에스코어 드림 2 ExtraLight" panose="020B0203030302020204" pitchFamily="34" charset="-127"/>
                        <a:cs typeface="+mn-cs"/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다른 검출기와 비교해 상대적으로 간단한 구조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경량화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2 ExtraLight" panose="020B0203030302020204" pitchFamily="34" charset="-127"/>
                        <a:ea typeface="에스코어 드림 2 ExtraLight" panose="020B0203030302020204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각도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크기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회전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빛 등의 변화에 강인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에스코어 드림 2 ExtraLight" panose="020B0203030302020204" pitchFamily="34" charset="-127"/>
                        <a:ea typeface="에스코어 드림 2 ExtraLight" panose="020B0203030302020204" pitchFamily="34" charset="-127"/>
                        <a:cs typeface="+mn-cs"/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높은 정확도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2 ExtraLight" panose="020B0203030302020204" pitchFamily="34" charset="-127"/>
                        <a:ea typeface="에스코어 드림 2 ExtraLight" panose="020B0203030302020204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높은 정확도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에스코어 드림 2 ExtraLight" panose="020B0203030302020204" pitchFamily="34" charset="-127"/>
                        <a:ea typeface="에스코어 드림 2 ExtraLight" panose="020B0203030302020204" pitchFamily="34" charset="-127"/>
                        <a:cs typeface="+mn-cs"/>
                      </a:endParaRPr>
                    </a:p>
                    <a:p>
                      <a:pPr algn="l" latinLnBrk="1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얼굴의 크기나 각도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조명 등의 변화에 강인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2 ExtraLight" panose="020B0203030302020204" pitchFamily="34" charset="-127"/>
                        <a:ea typeface="에스코어 드림 2 ExtraLight" panose="020B0203030302020204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938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단점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색상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각도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회전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광원 등의 변화에 대한 강인성이 낮음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2 ExtraLight" panose="020B0203030302020204" pitchFamily="34" charset="-127"/>
                        <a:ea typeface="에스코어 드림 2 ExtraLight" panose="020B0203030302020204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계산량이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 많고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처리 속도가 느림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2 ExtraLight" panose="020B0203030302020204" pitchFamily="34" charset="-127"/>
                        <a:ea typeface="에스코어 드림 2 ExtraLight" panose="020B0203030302020204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많은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계산량과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 복잡한 구조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2 ExtraLight" panose="020B0203030302020204" pitchFamily="34" charset="-127"/>
                        <a:ea typeface="에스코어 드림 2 ExtraLight" panose="020B0203030302020204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52907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C87037E9-B246-4B50-BD62-D2C35C2B6938}"/>
              </a:ext>
            </a:extLst>
          </p:cNvPr>
          <p:cNvSpPr/>
          <p:nvPr/>
        </p:nvSpPr>
        <p:spPr>
          <a:xfrm>
            <a:off x="4004443" y="3108756"/>
            <a:ext cx="418311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300" dirty="0" err="1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도어락</a:t>
            </a:r>
            <a:r>
              <a:rPr lang="ko-KR" altLang="en-US" sz="13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 특성을 고려하여 빠른 처리 속도에 강점을 갖는</a:t>
            </a:r>
            <a:endParaRPr lang="en-US" altLang="ko-KR" sz="1300" dirty="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  <a:p>
            <a:pPr algn="ctr"/>
            <a:r>
              <a:rPr lang="en-US" altLang="ko-KR" sz="13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Haar</a:t>
            </a:r>
            <a:r>
              <a:rPr lang="en-US" altLang="ko-KR" sz="13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Cascade</a:t>
            </a:r>
            <a:r>
              <a:rPr lang="en-US" altLang="ko-KR" sz="13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 </a:t>
            </a:r>
            <a:r>
              <a:rPr lang="ko-KR" altLang="en-US" sz="13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알고리즘을 사용하여 얼굴영역 검출</a:t>
            </a:r>
            <a:endParaRPr lang="en-US" altLang="ko-KR" sz="1300" dirty="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D7C7FCF-7062-49DF-8F7D-8539269F2012}"/>
              </a:ext>
            </a:extLst>
          </p:cNvPr>
          <p:cNvSpPr/>
          <p:nvPr/>
        </p:nvSpPr>
        <p:spPr>
          <a:xfrm>
            <a:off x="2665330" y="3698851"/>
            <a:ext cx="686134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 err="1">
                <a:solidFill>
                  <a:srgbClr val="374151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Haar</a:t>
            </a:r>
            <a:r>
              <a:rPr lang="en-US" altLang="ko-KR" sz="1300" dirty="0">
                <a:solidFill>
                  <a:srgbClr val="374151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 Cascade </a:t>
            </a:r>
            <a:r>
              <a:rPr lang="ko-KR" altLang="en-US" sz="1300" dirty="0">
                <a:solidFill>
                  <a:srgbClr val="374151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알고리즘에 의한 </a:t>
            </a:r>
            <a:r>
              <a:rPr lang="ko-KR" altLang="en-US" sz="13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얼굴 검출 정확도가 높지 않더라도</a:t>
            </a:r>
            <a:r>
              <a:rPr lang="en-US" altLang="ko-KR" sz="13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,</a:t>
            </a:r>
          </a:p>
          <a:p>
            <a:pPr algn="ctr"/>
            <a:r>
              <a:rPr lang="en-US" altLang="ko-KR" sz="13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Arcface</a:t>
            </a:r>
            <a:r>
              <a:rPr lang="ko-KR" altLang="en-US" sz="13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는 다양한 각도에 대한 강점을 갖는 모델이므로 보완 가능</a:t>
            </a:r>
            <a:endParaRPr lang="en-US" altLang="ko-KR" sz="1300" dirty="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D3FB2A-15CF-427A-8E0E-21899D61487D}"/>
              </a:ext>
            </a:extLst>
          </p:cNvPr>
          <p:cNvSpPr txBox="1"/>
          <p:nvPr/>
        </p:nvSpPr>
        <p:spPr>
          <a:xfrm>
            <a:off x="1841659" y="1351198"/>
            <a:ext cx="265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얼굴 영역 검출 알고리즘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E220797-7C6A-4637-AA10-FF219C457569}"/>
              </a:ext>
            </a:extLst>
          </p:cNvPr>
          <p:cNvSpPr/>
          <p:nvPr/>
        </p:nvSpPr>
        <p:spPr>
          <a:xfrm>
            <a:off x="4928720" y="5439830"/>
            <a:ext cx="1285929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300">
                <a:solidFill>
                  <a:srgbClr val="37415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Haar Cascade</a:t>
            </a:r>
            <a:endParaRPr lang="en-US" altLang="ko-KR" sz="1300" b="0" i="0" dirty="0">
              <a:solidFill>
                <a:srgbClr val="374151"/>
              </a:solidFill>
              <a:effectLst/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17" name="그래픽 16" descr="남자">
            <a:extLst>
              <a:ext uri="{FF2B5EF4-FFF2-40B4-BE49-F238E27FC236}">
                <a16:creationId xmlns:a16="http://schemas.microsoft.com/office/drawing/2014/main" id="{E213A14F-FD9A-4109-862E-F93FDFF2E6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35175" y="4612342"/>
            <a:ext cx="914400" cy="914400"/>
          </a:xfrm>
          <a:prstGeom prst="rect">
            <a:avLst/>
          </a:prstGeom>
        </p:spPr>
      </p:pic>
      <p:pic>
        <p:nvPicPr>
          <p:cNvPr id="18" name="그래픽 17" descr="사용자">
            <a:extLst>
              <a:ext uri="{FF2B5EF4-FFF2-40B4-BE49-F238E27FC236}">
                <a16:creationId xmlns:a16="http://schemas.microsoft.com/office/drawing/2014/main" id="{A888A0E0-6888-436C-A585-5629104D2A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63975" y="4574242"/>
            <a:ext cx="914400" cy="914400"/>
          </a:xfrm>
          <a:prstGeom prst="rect">
            <a:avLst/>
          </a:prstGeom>
        </p:spPr>
      </p:pic>
      <p:pic>
        <p:nvPicPr>
          <p:cNvPr id="19" name="그래픽 18" descr="카메라">
            <a:extLst>
              <a:ext uri="{FF2B5EF4-FFF2-40B4-BE49-F238E27FC236}">
                <a16:creationId xmlns:a16="http://schemas.microsoft.com/office/drawing/2014/main" id="{3A646D43-8920-410B-83C6-DEFCFDC9EA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22085" y="4612342"/>
            <a:ext cx="914400" cy="914400"/>
          </a:xfrm>
          <a:prstGeom prst="rect">
            <a:avLst/>
          </a:prstGeom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DC6086A-E65A-48E3-9A8E-3D897F156E39}"/>
              </a:ext>
            </a:extLst>
          </p:cNvPr>
          <p:cNvCxnSpPr>
            <a:stCxn id="19" idx="3"/>
            <a:endCxn id="17" idx="1"/>
          </p:cNvCxnSpPr>
          <p:nvPr/>
        </p:nvCxnSpPr>
        <p:spPr>
          <a:xfrm>
            <a:off x="3336485" y="5069542"/>
            <a:ext cx="89869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83CDF229-4F41-42BB-A9A5-7C08843D2440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5149575" y="5069542"/>
            <a:ext cx="89869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99CACCD-1D85-4EF3-BA7F-0B43C6F0867F}"/>
              </a:ext>
            </a:extLst>
          </p:cNvPr>
          <p:cNvSpPr/>
          <p:nvPr/>
        </p:nvSpPr>
        <p:spPr>
          <a:xfrm>
            <a:off x="3617389" y="5730026"/>
            <a:ext cx="390859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900" dirty="0">
                <a:solidFill>
                  <a:srgbClr val="374151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얼굴 검출을 위해 다양한 크기와 위치의 윈도우를 이미지에 적용하고</a:t>
            </a:r>
            <a:r>
              <a:rPr lang="en-US" altLang="ko-KR" sz="900" dirty="0">
                <a:solidFill>
                  <a:srgbClr val="374151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,</a:t>
            </a:r>
          </a:p>
          <a:p>
            <a:pPr algn="ctr"/>
            <a:r>
              <a:rPr lang="ko-KR" altLang="en-US" sz="900" dirty="0">
                <a:solidFill>
                  <a:srgbClr val="374151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이 윈도우 내에서 다양한 특징을 추출하여 얼굴과 비슷한 패턴 파악</a:t>
            </a:r>
            <a:endParaRPr lang="en-US" altLang="ko-KR" sz="900" dirty="0">
              <a:solidFill>
                <a:srgbClr val="374151"/>
              </a:solidFill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  <a:p>
            <a:pPr algn="ctr"/>
            <a:r>
              <a:rPr lang="ko-KR" altLang="en-US" sz="900" dirty="0">
                <a:solidFill>
                  <a:srgbClr val="374151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이후</a:t>
            </a:r>
            <a:r>
              <a:rPr lang="en-US" altLang="ko-KR" sz="900" dirty="0">
                <a:solidFill>
                  <a:srgbClr val="374151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, </a:t>
            </a:r>
            <a:r>
              <a:rPr lang="ko-KR" altLang="en-US" sz="900" dirty="0">
                <a:solidFill>
                  <a:srgbClr val="374151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검출된 윈도우를 이용하여 얼굴 영역을 결정</a:t>
            </a:r>
            <a:endParaRPr lang="ko-KR" altLang="en-US" sz="900" dirty="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8B24110-C655-46AC-9721-DE5052A08C57}"/>
              </a:ext>
            </a:extLst>
          </p:cNvPr>
          <p:cNvCxnSpPr>
            <a:cxnSpLocks/>
          </p:cNvCxnSpPr>
          <p:nvPr/>
        </p:nvCxnSpPr>
        <p:spPr>
          <a:xfrm>
            <a:off x="6978375" y="5069542"/>
            <a:ext cx="89869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B5A7350-3482-49D4-9FD4-E77877454F3E}"/>
              </a:ext>
            </a:extLst>
          </p:cNvPr>
          <p:cNvSpPr/>
          <p:nvPr/>
        </p:nvSpPr>
        <p:spPr>
          <a:xfrm>
            <a:off x="8153134" y="4923348"/>
            <a:ext cx="793743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300" b="0" i="0" dirty="0" err="1">
                <a:solidFill>
                  <a:srgbClr val="374151"/>
                </a:solidFill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Arcface</a:t>
            </a:r>
            <a:endParaRPr lang="en-US" altLang="ko-KR" sz="1300" b="0" i="0" dirty="0">
              <a:solidFill>
                <a:srgbClr val="374151"/>
              </a:solidFill>
              <a:effectLst/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9A309AB4-D70B-48C5-BB54-48FEA84772B5}"/>
              </a:ext>
            </a:extLst>
          </p:cNvPr>
          <p:cNvCxnSpPr>
            <a:cxnSpLocks/>
          </p:cNvCxnSpPr>
          <p:nvPr/>
        </p:nvCxnSpPr>
        <p:spPr>
          <a:xfrm flipV="1">
            <a:off x="8972277" y="4849158"/>
            <a:ext cx="613919" cy="2203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BEC30753-9C0D-42D4-B7CD-B76DE05753CD}"/>
              </a:ext>
            </a:extLst>
          </p:cNvPr>
          <p:cNvCxnSpPr>
            <a:cxnSpLocks/>
          </p:cNvCxnSpPr>
          <p:nvPr/>
        </p:nvCxnSpPr>
        <p:spPr>
          <a:xfrm>
            <a:off x="8972277" y="5073750"/>
            <a:ext cx="611379" cy="2754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8899370-E735-466C-9396-63E5E9E79332}"/>
              </a:ext>
            </a:extLst>
          </p:cNvPr>
          <p:cNvSpPr/>
          <p:nvPr/>
        </p:nvSpPr>
        <p:spPr>
          <a:xfrm>
            <a:off x="6715996" y="4675498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ko-KR" dirty="0">
                <a:solidFill>
                  <a:srgbClr val="374151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0</a:t>
            </a:r>
            <a:endParaRPr lang="en-US" altLang="ko-KR" dirty="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C95466D-F353-4B89-8E06-EA73444B0947}"/>
              </a:ext>
            </a:extLst>
          </p:cNvPr>
          <p:cNvSpPr/>
          <p:nvPr/>
        </p:nvSpPr>
        <p:spPr>
          <a:xfrm>
            <a:off x="6724510" y="516457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ko-KR" dirty="0">
                <a:solidFill>
                  <a:srgbClr val="374151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1</a:t>
            </a:r>
            <a:endParaRPr lang="en-US" altLang="ko-KR" dirty="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4686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C83E7AE-80A5-4A97-BB48-A0BB899D6C1D}"/>
              </a:ext>
            </a:extLst>
          </p:cNvPr>
          <p:cNvCxnSpPr/>
          <p:nvPr/>
        </p:nvCxnSpPr>
        <p:spPr>
          <a:xfrm>
            <a:off x="2174875" y="1191630"/>
            <a:ext cx="78422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F1E844A-2AA1-4117-8CF0-0F6906766984}"/>
              </a:ext>
            </a:extLst>
          </p:cNvPr>
          <p:cNvGrpSpPr/>
          <p:nvPr/>
        </p:nvGrpSpPr>
        <p:grpSpPr>
          <a:xfrm>
            <a:off x="-1103845" y="-19050"/>
            <a:ext cx="3072663" cy="1395190"/>
            <a:chOff x="10359306" y="124840"/>
            <a:chExt cx="3072663" cy="139519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09CEB39-5F28-4BC7-B219-4C704A0AFA90}"/>
                </a:ext>
              </a:extLst>
            </p:cNvPr>
            <p:cNvSpPr txBox="1"/>
            <p:nvPr/>
          </p:nvSpPr>
          <p:spPr>
            <a:xfrm>
              <a:off x="10359306" y="555727"/>
              <a:ext cx="3072663" cy="9643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20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 </a:t>
              </a:r>
              <a:r>
                <a:rPr lang="ko-KR" altLang="en-US" sz="1600" spc="-150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핵심 기술</a:t>
              </a:r>
              <a:endParaRPr lang="en-US" altLang="ko-KR" sz="2000" spc="-15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algn="ctr">
                <a:lnSpc>
                  <a:spcPct val="150000"/>
                </a:lnSpc>
              </a:pPr>
              <a:endParaRPr lang="en-US" altLang="ko-KR" sz="20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43F7F5C-AD1C-4352-B315-05550CD57F87}"/>
                </a:ext>
              </a:extLst>
            </p:cNvPr>
            <p:cNvSpPr txBox="1"/>
            <p:nvPr/>
          </p:nvSpPr>
          <p:spPr>
            <a:xfrm rot="5400000">
              <a:off x="11782843" y="-118969"/>
              <a:ext cx="861774" cy="1349392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US" altLang="ko-KR" sz="4400" spc="-3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04</a:t>
              </a:r>
              <a:endParaRPr lang="ko-KR" altLang="en-US" sz="4400" spc="-3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1DC34BC4-ACE3-4EFC-9F00-DD921ADB778E}"/>
              </a:ext>
            </a:extLst>
          </p:cNvPr>
          <p:cNvCxnSpPr/>
          <p:nvPr/>
        </p:nvCxnSpPr>
        <p:spPr>
          <a:xfrm>
            <a:off x="2229109" y="6460011"/>
            <a:ext cx="78422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65BC2AD-E579-43DA-8077-C71ED6C748D8}"/>
              </a:ext>
            </a:extLst>
          </p:cNvPr>
          <p:cNvSpPr txBox="1"/>
          <p:nvPr/>
        </p:nvSpPr>
        <p:spPr>
          <a:xfrm>
            <a:off x="2174875" y="1394645"/>
            <a:ext cx="265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Arcface</a:t>
            </a:r>
            <a:endParaRPr lang="ko-KR" altLang="en-US" dirty="0"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50F1DF90-1E97-434A-9B45-D27825508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225168"/>
              </p:ext>
            </p:extLst>
          </p:nvPr>
        </p:nvGraphicFramePr>
        <p:xfrm>
          <a:off x="2328970" y="2351140"/>
          <a:ext cx="3386385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889">
                  <a:extLst>
                    <a:ext uri="{9D8B030D-6E8A-4147-A177-3AD203B41FA5}">
                      <a16:colId xmlns:a16="http://schemas.microsoft.com/office/drawing/2014/main" val="1677776806"/>
                    </a:ext>
                  </a:extLst>
                </a:gridCol>
                <a:gridCol w="2227496">
                  <a:extLst>
                    <a:ext uri="{9D8B030D-6E8A-4147-A177-3AD203B41FA5}">
                      <a16:colId xmlns:a16="http://schemas.microsoft.com/office/drawing/2014/main" val="635148538"/>
                    </a:ext>
                  </a:extLst>
                </a:gridCol>
              </a:tblGrid>
              <a:tr h="23669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2 ExtraLight" panose="020B0203030302020204" pitchFamily="34" charset="-127"/>
                        <a:ea typeface="에스코어 드림 2 ExtraLight" panose="020B0203030302020204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Arcface</a:t>
                      </a:r>
                      <a:endParaRPr lang="en-US" altLang="ko-KR" sz="1000" b="0" i="0" dirty="0"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05066"/>
                  </a:ext>
                </a:extLst>
              </a:tr>
              <a:tr h="5325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장점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높은 정확도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에스코어 드림 2 ExtraLight" panose="020B0203030302020204" pitchFamily="34" charset="-127"/>
                        <a:ea typeface="에스코어 드림 2 ExtraLight" panose="020B0203030302020204" pitchFamily="34" charset="-127"/>
                        <a:cs typeface="+mn-cs"/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다양한 얼굴 각도 인식 가능</a:t>
                      </a: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인식 거리 조절 가능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2 ExtraLight" panose="020B0203030302020204" pitchFamily="34" charset="-127"/>
                        <a:ea typeface="에스코어 드림 2 ExtraLight" panose="020B0203030302020204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938005"/>
                  </a:ext>
                </a:extLst>
              </a:tr>
              <a:tr h="3846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단점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높은 계산 비용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에스코어 드림 2 ExtraLight" panose="020B0203030302020204" pitchFamily="34" charset="-127"/>
                        <a:ea typeface="에스코어 드림 2 ExtraLight" panose="020B0203030302020204" pitchFamily="34" charset="-127"/>
                        <a:cs typeface="+mn-cs"/>
                      </a:endParaRPr>
                    </a:p>
                    <a:p>
                      <a:pPr algn="l" latinLnBrk="1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학습 데이터 수에 민감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2 ExtraLight" panose="020B0203030302020204" pitchFamily="34" charset="-127"/>
                        <a:ea typeface="에스코어 드림 2 ExtraLight" panose="020B0203030302020204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529070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C3B7D885-1762-4227-9471-0A0B234E2D1C}"/>
              </a:ext>
            </a:extLst>
          </p:cNvPr>
          <p:cNvSpPr/>
          <p:nvPr/>
        </p:nvSpPr>
        <p:spPr>
          <a:xfrm>
            <a:off x="2328970" y="1778014"/>
            <a:ext cx="577417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300" dirty="0" err="1">
                <a:solidFill>
                  <a:srgbClr val="374151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Arcface</a:t>
            </a:r>
            <a:r>
              <a:rPr lang="ko-KR" altLang="en-US" sz="1300" dirty="0">
                <a:solidFill>
                  <a:srgbClr val="374151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는 </a:t>
            </a:r>
            <a:r>
              <a:rPr lang="en-US" altLang="ko-KR" sz="1300" dirty="0" err="1">
                <a:solidFill>
                  <a:srgbClr val="374151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ResNet</a:t>
            </a:r>
            <a:r>
              <a:rPr lang="en-US" altLang="ko-KR" sz="1300" dirty="0">
                <a:solidFill>
                  <a:srgbClr val="374151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 </a:t>
            </a:r>
            <a:r>
              <a:rPr lang="ko-KR" altLang="en-US" sz="1300" dirty="0">
                <a:solidFill>
                  <a:srgbClr val="374151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기반의 모델로</a:t>
            </a:r>
            <a:r>
              <a:rPr lang="en-US" altLang="ko-KR" sz="1300" dirty="0">
                <a:solidFill>
                  <a:srgbClr val="374151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, </a:t>
            </a:r>
            <a:r>
              <a:rPr lang="ko-KR" altLang="en-US" sz="1300" dirty="0">
                <a:solidFill>
                  <a:srgbClr val="374151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기존 </a:t>
            </a:r>
            <a:r>
              <a:rPr lang="en-US" altLang="ko-KR" sz="1300" dirty="0" err="1">
                <a:solidFill>
                  <a:srgbClr val="374151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ResNet</a:t>
            </a:r>
            <a:r>
              <a:rPr lang="ko-KR" altLang="en-US" sz="1300" dirty="0">
                <a:solidFill>
                  <a:srgbClr val="374151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 모델에서 분류 방법과</a:t>
            </a:r>
            <a:endParaRPr lang="en-US" altLang="ko-KR" sz="1300" dirty="0">
              <a:solidFill>
                <a:srgbClr val="374151"/>
              </a:solidFill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  <a:p>
            <a:r>
              <a:rPr lang="ko-KR" altLang="en-US" sz="1300" dirty="0">
                <a:solidFill>
                  <a:srgbClr val="374151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손실 함수</a:t>
            </a:r>
            <a:r>
              <a:rPr lang="en-US" altLang="ko-KR" sz="1300" dirty="0">
                <a:solidFill>
                  <a:srgbClr val="374151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(</a:t>
            </a:r>
            <a:r>
              <a:rPr lang="en-US" altLang="ko-KR" sz="1300" dirty="0" err="1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Arcface</a:t>
            </a:r>
            <a:r>
              <a:rPr lang="en-US" altLang="ko-KR" sz="13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 loss)</a:t>
            </a:r>
            <a:r>
              <a:rPr lang="ko-KR" altLang="en-US" sz="1300" dirty="0">
                <a:solidFill>
                  <a:srgbClr val="374151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를 개선하여</a:t>
            </a:r>
            <a:r>
              <a:rPr lang="en-US" altLang="ko-KR" sz="1300" dirty="0">
                <a:solidFill>
                  <a:srgbClr val="374151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 </a:t>
            </a:r>
            <a:r>
              <a:rPr lang="ko-KR" altLang="en-US" sz="1300" dirty="0">
                <a:solidFill>
                  <a:srgbClr val="374151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성능을 대폭 향상시킨 모델</a:t>
            </a:r>
            <a:endParaRPr lang="ko-KR" altLang="en-US" sz="1300" dirty="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5135FE52-FB98-40A6-A7AD-D08390F62206}"/>
              </a:ext>
            </a:extLst>
          </p:cNvPr>
          <p:cNvCxnSpPr>
            <a:cxnSpLocks/>
          </p:cNvCxnSpPr>
          <p:nvPr/>
        </p:nvCxnSpPr>
        <p:spPr>
          <a:xfrm>
            <a:off x="4433845" y="3539860"/>
            <a:ext cx="0" cy="3182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26B03245-CB23-4E94-874B-E58E33D65D42}"/>
              </a:ext>
            </a:extLst>
          </p:cNvPr>
          <p:cNvCxnSpPr>
            <a:cxnSpLocks/>
          </p:cNvCxnSpPr>
          <p:nvPr/>
        </p:nvCxnSpPr>
        <p:spPr>
          <a:xfrm>
            <a:off x="5701500" y="2896178"/>
            <a:ext cx="57114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B01763E-B6F2-49E9-94E7-5618C9C2B0D2}"/>
              </a:ext>
            </a:extLst>
          </p:cNvPr>
          <p:cNvSpPr/>
          <p:nvPr/>
        </p:nvSpPr>
        <p:spPr>
          <a:xfrm>
            <a:off x="6253595" y="2784289"/>
            <a:ext cx="106193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rgbClr val="374151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모델 선정 이유</a:t>
            </a:r>
            <a:endParaRPr lang="ko-KR" altLang="en-US" sz="1000" dirty="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2AFD26C-204F-4D4C-8F91-481AD4269D0B}"/>
              </a:ext>
            </a:extLst>
          </p:cNvPr>
          <p:cNvSpPr/>
          <p:nvPr/>
        </p:nvSpPr>
        <p:spPr>
          <a:xfrm>
            <a:off x="4069445" y="3884306"/>
            <a:ext cx="76167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rgbClr val="374151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개선 방법</a:t>
            </a:r>
            <a:endParaRPr lang="ko-KR" altLang="en-US" sz="1000" dirty="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AD25EE7-2B38-4F53-904F-10483F7749D6}"/>
              </a:ext>
            </a:extLst>
          </p:cNvPr>
          <p:cNvSpPr txBox="1"/>
          <p:nvPr/>
        </p:nvSpPr>
        <p:spPr>
          <a:xfrm>
            <a:off x="4907857" y="611951"/>
            <a:ext cx="2376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spc="-15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얼굴 인식 모델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09F7699-3C72-4081-B199-7D70CD17A018}"/>
              </a:ext>
            </a:extLst>
          </p:cNvPr>
          <p:cNvSpPr/>
          <p:nvPr/>
        </p:nvSpPr>
        <p:spPr>
          <a:xfrm>
            <a:off x="4189905" y="4130527"/>
            <a:ext cx="6188476" cy="203254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base" latinLnBrk="0">
              <a:lnSpc>
                <a:spcPct val="160000"/>
              </a:lnSpc>
            </a:pPr>
            <a:r>
              <a:rPr lang="en-US" altLang="ko-KR" sz="1000" kern="0" dirty="0">
                <a:solidFill>
                  <a:srgbClr val="000000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&lt;</a:t>
            </a:r>
            <a:r>
              <a:rPr lang="ko-KR" altLang="en-US" sz="1000" kern="0" dirty="0">
                <a:solidFill>
                  <a:srgbClr val="000000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계산 비용</a:t>
            </a:r>
            <a:r>
              <a:rPr lang="en-US" altLang="ko-KR" sz="1000" kern="0" dirty="0">
                <a:solidFill>
                  <a:srgbClr val="000000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&gt;</a:t>
            </a:r>
          </a:p>
          <a:p>
            <a:pPr fontAlgn="base" latinLnBrk="0">
              <a:lnSpc>
                <a:spcPct val="160000"/>
              </a:lnSpc>
            </a:pPr>
            <a:r>
              <a:rPr lang="ko-KR" altLang="en-US" sz="1000" kern="0" dirty="0">
                <a:solidFill>
                  <a:srgbClr val="000000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클라우드 서버를 사용하여 시간과 하드웨어 자원에 대한 부담 완화</a:t>
            </a:r>
            <a:endParaRPr lang="en-US" altLang="ko-KR" sz="1000" kern="0" dirty="0">
              <a:solidFill>
                <a:srgbClr val="000000"/>
              </a:solidFill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  <a:p>
            <a:pPr fontAlgn="base" latinLnBrk="0">
              <a:lnSpc>
                <a:spcPct val="160000"/>
              </a:lnSpc>
            </a:pPr>
            <a:r>
              <a:rPr lang="ko-KR" altLang="en-US" sz="1000" kern="0" dirty="0">
                <a:solidFill>
                  <a:srgbClr val="000000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단</a:t>
            </a:r>
            <a:r>
              <a:rPr lang="en-US" altLang="ko-KR" sz="1000" kern="0" dirty="0">
                <a:solidFill>
                  <a:srgbClr val="000000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,</a:t>
            </a:r>
            <a:r>
              <a:rPr lang="ko-KR" altLang="en-US" sz="1000" kern="0" dirty="0">
                <a:solidFill>
                  <a:srgbClr val="000000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 클라우드 서비스는 사용자가 사용한 리소스에 대한 비용을 부과하므로</a:t>
            </a:r>
            <a:r>
              <a:rPr lang="en-US" altLang="ko-KR" sz="1000" kern="0" dirty="0">
                <a:solidFill>
                  <a:srgbClr val="000000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, </a:t>
            </a:r>
            <a:r>
              <a:rPr lang="ko-KR" altLang="en-US" sz="1000" kern="0" dirty="0">
                <a:solidFill>
                  <a:srgbClr val="000000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모델을 최적화하려는 노력이 필요</a:t>
            </a:r>
            <a:endParaRPr lang="en-US" altLang="ko-KR" sz="1000" kern="0" dirty="0">
              <a:solidFill>
                <a:srgbClr val="000000"/>
              </a:solidFill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  <a:p>
            <a:pPr fontAlgn="base" latinLnBrk="0">
              <a:lnSpc>
                <a:spcPct val="160000"/>
              </a:lnSpc>
            </a:pPr>
            <a:r>
              <a:rPr lang="en-US" altLang="ko-KR" sz="1000" kern="0" dirty="0">
                <a:solidFill>
                  <a:srgbClr val="000000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(ex&gt; </a:t>
            </a:r>
            <a:r>
              <a:rPr lang="ko-KR" altLang="en-US" sz="1000" kern="0" dirty="0">
                <a:solidFill>
                  <a:srgbClr val="000000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양자화 </a:t>
            </a:r>
            <a:r>
              <a:rPr lang="en-US" altLang="ko-KR" sz="1000" kern="0" dirty="0">
                <a:solidFill>
                  <a:srgbClr val="000000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: TensorFlow - TensorFlow Lite / </a:t>
            </a:r>
            <a:r>
              <a:rPr lang="ko-KR" altLang="en-US" sz="1000" kern="0" dirty="0">
                <a:solidFill>
                  <a:srgbClr val="000000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커널 크기 축소 </a:t>
            </a:r>
            <a:r>
              <a:rPr lang="en-US" altLang="ko-KR" sz="1000" kern="0" dirty="0">
                <a:solidFill>
                  <a:srgbClr val="000000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: TensorFlow – DensewiseConv2D)</a:t>
            </a:r>
            <a:endParaRPr lang="en-US" altLang="ko-KR" sz="1000" dirty="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  <a:p>
            <a:pPr fontAlgn="base" latinLnBrk="0">
              <a:lnSpc>
                <a:spcPct val="160000"/>
              </a:lnSpc>
            </a:pPr>
            <a:endParaRPr lang="en-US" altLang="ko-KR" sz="1000" kern="0" dirty="0">
              <a:solidFill>
                <a:srgbClr val="000000"/>
              </a:solidFill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  <a:p>
            <a:pPr fontAlgn="base" latinLnBrk="0">
              <a:lnSpc>
                <a:spcPct val="160000"/>
              </a:lnSpc>
            </a:pPr>
            <a:r>
              <a:rPr lang="en-US" altLang="ko-KR" sz="1000" kern="0" dirty="0">
                <a:solidFill>
                  <a:srgbClr val="000000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&lt;</a:t>
            </a:r>
            <a:r>
              <a:rPr lang="ko-KR" altLang="en-US" sz="1000" kern="0" dirty="0">
                <a:solidFill>
                  <a:srgbClr val="000000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데이터셋에 대한 높은 의존도</a:t>
            </a:r>
            <a:r>
              <a:rPr lang="en-US" altLang="ko-KR" sz="1000" kern="0" dirty="0">
                <a:solidFill>
                  <a:srgbClr val="000000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&gt; </a:t>
            </a:r>
          </a:p>
          <a:p>
            <a:pPr fontAlgn="base" latinLnBrk="0">
              <a:lnSpc>
                <a:spcPct val="160000"/>
              </a:lnSpc>
            </a:pPr>
            <a:r>
              <a:rPr lang="ko-KR" altLang="en-US" sz="1000" kern="0" dirty="0">
                <a:solidFill>
                  <a:srgbClr val="000000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데이터의 인종 다양성 부족</a:t>
            </a:r>
            <a:r>
              <a:rPr lang="en-US" altLang="ko-KR" sz="1000" kern="0" dirty="0">
                <a:solidFill>
                  <a:srgbClr val="000000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 -&gt; </a:t>
            </a:r>
            <a:r>
              <a:rPr lang="ko-KR" altLang="en-US" sz="1000" kern="0" dirty="0">
                <a:solidFill>
                  <a:srgbClr val="000000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데이터 증강 기술을 사용하여 다양한 인종에 대한 데이터 증대 </a:t>
            </a:r>
            <a:endParaRPr lang="en-US" altLang="ko-KR" sz="1000" kern="0" dirty="0">
              <a:solidFill>
                <a:srgbClr val="000000"/>
              </a:solidFill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  <a:p>
            <a:pPr fontAlgn="base" latinLnBrk="0">
              <a:lnSpc>
                <a:spcPct val="160000"/>
              </a:lnSpc>
            </a:pPr>
            <a:r>
              <a:rPr lang="ko-KR" altLang="en-US" sz="1000" kern="0" dirty="0">
                <a:solidFill>
                  <a:srgbClr val="000000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한국인 얼굴 데이터 수집 </a:t>
            </a:r>
            <a:r>
              <a:rPr lang="en-US" altLang="ko-KR" sz="1000" kern="0" dirty="0">
                <a:solidFill>
                  <a:srgbClr val="000000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-&gt; K-Face (AI-HUB)</a:t>
            </a: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D21E3A83-47FD-49F2-8738-EF28CBB9B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83" y="4096411"/>
            <a:ext cx="3491383" cy="2154160"/>
          </a:xfrm>
          <a:prstGeom prst="rect">
            <a:avLst/>
          </a:prstGeom>
        </p:spPr>
      </p:pic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E75A896E-1500-4AD0-95F4-2607AF8DF595}"/>
              </a:ext>
            </a:extLst>
          </p:cNvPr>
          <p:cNvCxnSpPr>
            <a:cxnSpLocks/>
          </p:cNvCxnSpPr>
          <p:nvPr/>
        </p:nvCxnSpPr>
        <p:spPr>
          <a:xfrm flipH="1">
            <a:off x="3920566" y="6007100"/>
            <a:ext cx="33393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418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C83E7AE-80A5-4A97-BB48-A0BB899D6C1D}"/>
              </a:ext>
            </a:extLst>
          </p:cNvPr>
          <p:cNvCxnSpPr/>
          <p:nvPr/>
        </p:nvCxnSpPr>
        <p:spPr>
          <a:xfrm>
            <a:off x="2174875" y="1191630"/>
            <a:ext cx="78422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3827922-67D8-476B-A032-C9A507C578C8}"/>
              </a:ext>
            </a:extLst>
          </p:cNvPr>
          <p:cNvSpPr txBox="1"/>
          <p:nvPr/>
        </p:nvSpPr>
        <p:spPr>
          <a:xfrm>
            <a:off x="4923594" y="620169"/>
            <a:ext cx="2306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spc="-150"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화자 인식 모델</a:t>
            </a:r>
            <a:endParaRPr lang="ko-KR" altLang="en-US" sz="2800" spc="-150" dirty="0"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79C83D7-19D6-4654-84F7-5985876E3E7F}"/>
              </a:ext>
            </a:extLst>
          </p:cNvPr>
          <p:cNvCxnSpPr/>
          <p:nvPr/>
        </p:nvCxnSpPr>
        <p:spPr>
          <a:xfrm>
            <a:off x="2229109" y="6460011"/>
            <a:ext cx="78422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2880FBB-F75B-4F3D-AF56-DCDFD82D1D58}"/>
              </a:ext>
            </a:extLst>
          </p:cNvPr>
          <p:cNvGrpSpPr/>
          <p:nvPr/>
        </p:nvGrpSpPr>
        <p:grpSpPr>
          <a:xfrm>
            <a:off x="-1103845" y="-19050"/>
            <a:ext cx="3072663" cy="1395190"/>
            <a:chOff x="10359306" y="124840"/>
            <a:chExt cx="3072663" cy="139519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4A33C51-633A-4041-B915-A10D58C9C99A}"/>
                </a:ext>
              </a:extLst>
            </p:cNvPr>
            <p:cNvSpPr txBox="1"/>
            <p:nvPr/>
          </p:nvSpPr>
          <p:spPr>
            <a:xfrm>
              <a:off x="10359306" y="555727"/>
              <a:ext cx="3072663" cy="9643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20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 </a:t>
              </a:r>
              <a:r>
                <a:rPr lang="ko-KR" altLang="en-US" sz="1600" spc="-150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핵심 기술</a:t>
              </a:r>
              <a:endParaRPr lang="en-US" altLang="ko-KR" sz="2000" spc="-15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algn="ctr">
                <a:lnSpc>
                  <a:spcPct val="150000"/>
                </a:lnSpc>
              </a:pPr>
              <a:endParaRPr lang="en-US" altLang="ko-KR" sz="20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2088941-CA30-4F20-86E8-382F61447AD6}"/>
                </a:ext>
              </a:extLst>
            </p:cNvPr>
            <p:cNvSpPr txBox="1"/>
            <p:nvPr/>
          </p:nvSpPr>
          <p:spPr>
            <a:xfrm rot="5400000">
              <a:off x="11782843" y="-118969"/>
              <a:ext cx="861774" cy="1349392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US" altLang="ko-KR" sz="4400" spc="-3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04</a:t>
              </a:r>
              <a:endParaRPr lang="ko-KR" altLang="en-US" sz="4400" spc="-3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49316D7-1B7E-43BD-8CAC-99DA9FF245CD}"/>
              </a:ext>
            </a:extLst>
          </p:cNvPr>
          <p:cNvSpPr txBox="1"/>
          <p:nvPr/>
        </p:nvSpPr>
        <p:spPr>
          <a:xfrm>
            <a:off x="2130742" y="1309812"/>
            <a:ext cx="784225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Lightweight x-vector</a:t>
            </a:r>
          </a:p>
          <a:p>
            <a:endParaRPr lang="en-US" altLang="ko-KR" sz="1000" dirty="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  <a:p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모델 특징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(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선택 이유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): Lightweight x-vector 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모델은 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x-vector 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모델의 경량화 버전으로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, </a:t>
            </a:r>
          </a:p>
          <a:p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작은 모델 크기와 빠른 속도를 가지고 있어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 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스마트 </a:t>
            </a:r>
            <a:r>
              <a:rPr lang="ko-KR" altLang="en-US" sz="1000" dirty="0" err="1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도어락과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 같이 실시간으로 화자인식 기능을 수행하는 데에 적합하다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.</a:t>
            </a:r>
          </a:p>
          <a:p>
            <a:endParaRPr lang="en-US" altLang="ko-KR" sz="1000" dirty="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  <a:p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데이터셋 정보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: AI Hub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 화자 인식용 한국어 음성 데이터</a:t>
            </a:r>
            <a:endParaRPr lang="en-US" altLang="ko-KR" sz="1000" dirty="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주관기관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: </a:t>
            </a:r>
            <a:r>
              <a:rPr lang="ko-KR" altLang="en-US" sz="1000" dirty="0" err="1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미디어젠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㈜</a:t>
            </a:r>
            <a:endParaRPr lang="en-US" altLang="ko-KR" sz="1000" dirty="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000" b="0" i="0" dirty="0">
                <a:solidFill>
                  <a:srgbClr val="000000"/>
                </a:solidFill>
                <a:effectLst/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3000</a:t>
            </a:r>
            <a:r>
              <a:rPr lang="ko-KR" altLang="en-US" sz="1000" b="0" i="0" dirty="0">
                <a:solidFill>
                  <a:srgbClr val="000000"/>
                </a:solidFill>
                <a:effectLst/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명의 화자가 </a:t>
            </a:r>
            <a:r>
              <a:rPr lang="ko-KR" altLang="en-US" sz="1000" dirty="0">
                <a:solidFill>
                  <a:srgbClr val="000000"/>
                </a:solidFill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녹음하여 </a:t>
            </a:r>
            <a:r>
              <a:rPr lang="ko-KR" altLang="en-US" sz="1000" b="0" i="0" dirty="0">
                <a:solidFill>
                  <a:srgbClr val="000000"/>
                </a:solidFill>
                <a:effectLst/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총 </a:t>
            </a:r>
            <a:r>
              <a:rPr lang="en-US" altLang="ko-KR" sz="1000" b="0" i="0" dirty="0">
                <a:solidFill>
                  <a:srgbClr val="000000"/>
                </a:solidFill>
                <a:effectLst/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7,000</a:t>
            </a:r>
            <a:r>
              <a:rPr lang="ko-KR" altLang="en-US" sz="1000" b="0" i="0" dirty="0">
                <a:solidFill>
                  <a:srgbClr val="000000"/>
                </a:solidFill>
                <a:effectLst/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시간의 음성 데이터 구축</a:t>
            </a:r>
            <a:endParaRPr lang="en-US" altLang="ko-KR" sz="1000" b="0" i="0" dirty="0">
              <a:solidFill>
                <a:srgbClr val="000000"/>
              </a:solidFill>
              <a:effectLst/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b="0" i="0" dirty="0" err="1">
                <a:solidFill>
                  <a:srgbClr val="000000"/>
                </a:solidFill>
                <a:effectLst/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호출어는</a:t>
            </a:r>
            <a:r>
              <a:rPr lang="ko-KR" altLang="en-US" sz="1000" b="0" i="0" dirty="0">
                <a:solidFill>
                  <a:srgbClr val="000000"/>
                </a:solidFill>
                <a:effectLst/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 </a:t>
            </a:r>
            <a:r>
              <a:rPr lang="en-US" altLang="ko-KR" sz="1000" b="0" i="0" dirty="0">
                <a:solidFill>
                  <a:srgbClr val="000000"/>
                </a:solidFill>
                <a:effectLst/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5</a:t>
            </a:r>
            <a:r>
              <a:rPr lang="ko-KR" altLang="en-US" sz="1000" b="0" i="0" dirty="0">
                <a:solidFill>
                  <a:srgbClr val="000000"/>
                </a:solidFill>
                <a:effectLst/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가지 발화 스타일별 </a:t>
            </a:r>
            <a:r>
              <a:rPr lang="en-US" altLang="ko-KR" sz="1000" b="0" i="0" dirty="0">
                <a:solidFill>
                  <a:srgbClr val="000000"/>
                </a:solidFill>
                <a:effectLst/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3</a:t>
            </a:r>
            <a:r>
              <a:rPr lang="ko-KR" altLang="en-US" sz="1000" b="0" i="0" dirty="0">
                <a:solidFill>
                  <a:srgbClr val="000000"/>
                </a:solidFill>
                <a:effectLst/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회 반복 녹음</a:t>
            </a:r>
            <a:endParaRPr lang="en-US" altLang="ko-KR" sz="1000" b="0" i="0" dirty="0">
              <a:solidFill>
                <a:srgbClr val="000000"/>
              </a:solidFill>
              <a:effectLst/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rgbClr val="000000"/>
                </a:solidFill>
                <a:effectLst/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수집은 스튜디오 환경</a:t>
            </a:r>
            <a:r>
              <a:rPr lang="en-US" altLang="ko-KR" sz="1000" b="0" i="0" dirty="0">
                <a:solidFill>
                  <a:srgbClr val="000000"/>
                </a:solidFill>
                <a:effectLst/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, </a:t>
            </a:r>
            <a:r>
              <a:rPr lang="ko-KR" altLang="en-US" sz="1000" b="0" i="0" dirty="0">
                <a:solidFill>
                  <a:srgbClr val="000000"/>
                </a:solidFill>
                <a:effectLst/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무소음 환경</a:t>
            </a:r>
            <a:r>
              <a:rPr lang="en-US" altLang="ko-KR" sz="1000" b="0" i="0" dirty="0">
                <a:solidFill>
                  <a:srgbClr val="000000"/>
                </a:solidFill>
                <a:effectLst/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, </a:t>
            </a:r>
            <a:r>
              <a:rPr lang="ko-KR" altLang="en-US" sz="1000" b="0" i="0" dirty="0">
                <a:solidFill>
                  <a:srgbClr val="000000"/>
                </a:solidFill>
                <a:effectLst/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잡음 환경에서 </a:t>
            </a:r>
            <a:r>
              <a:rPr lang="ko-KR" altLang="en-US" sz="1000" b="0" i="0" dirty="0" err="1">
                <a:solidFill>
                  <a:srgbClr val="000000"/>
                </a:solidFill>
                <a:effectLst/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균형있게</a:t>
            </a:r>
            <a:r>
              <a:rPr lang="ko-KR" altLang="en-US" sz="1000" b="0" i="0" dirty="0">
                <a:solidFill>
                  <a:srgbClr val="000000"/>
                </a:solidFill>
                <a:effectLst/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 진행되었다</a:t>
            </a:r>
            <a:r>
              <a:rPr lang="en-US" altLang="ko-KR" sz="1000" b="0" i="0" dirty="0">
                <a:solidFill>
                  <a:srgbClr val="000000"/>
                </a:solidFill>
                <a:effectLst/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rgbClr val="000000"/>
                </a:solidFill>
                <a:effectLst/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학습모델 평가지표</a:t>
            </a:r>
            <a:r>
              <a:rPr lang="en-US" altLang="ko-KR" sz="1000" b="0" i="0" dirty="0">
                <a:solidFill>
                  <a:srgbClr val="000000"/>
                </a:solidFill>
                <a:effectLst/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(EER) : 3.79%</a:t>
            </a:r>
            <a:endParaRPr lang="ko-KR" altLang="en-US" sz="1000" b="0" i="0" dirty="0">
              <a:solidFill>
                <a:srgbClr val="000000"/>
              </a:solidFill>
              <a:effectLst/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000" b="0" i="0" dirty="0">
              <a:solidFill>
                <a:srgbClr val="000000"/>
              </a:solidFill>
              <a:effectLst/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0" dirty="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</p:txBody>
      </p:sp>
      <p:graphicFrame>
        <p:nvGraphicFramePr>
          <p:cNvPr id="19" name="표 5">
            <a:extLst>
              <a:ext uri="{FF2B5EF4-FFF2-40B4-BE49-F238E27FC236}">
                <a16:creationId xmlns:a16="http://schemas.microsoft.com/office/drawing/2014/main" id="{A5B3D551-5C93-41FF-90CD-8337ED4E9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06626"/>
              </p:ext>
            </p:extLst>
          </p:nvPr>
        </p:nvGraphicFramePr>
        <p:xfrm>
          <a:off x="2250833" y="3437482"/>
          <a:ext cx="8115301" cy="17440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18178467"/>
                    </a:ext>
                  </a:extLst>
                </a:gridCol>
                <a:gridCol w="1850686">
                  <a:extLst>
                    <a:ext uri="{9D8B030D-6E8A-4147-A177-3AD203B41FA5}">
                      <a16:colId xmlns:a16="http://schemas.microsoft.com/office/drawing/2014/main" val="2609662461"/>
                    </a:ext>
                  </a:extLst>
                </a:gridCol>
                <a:gridCol w="2656254">
                  <a:extLst>
                    <a:ext uri="{9D8B030D-6E8A-4147-A177-3AD203B41FA5}">
                      <a16:colId xmlns:a16="http://schemas.microsoft.com/office/drawing/2014/main" val="1786788631"/>
                    </a:ext>
                  </a:extLst>
                </a:gridCol>
                <a:gridCol w="2312961">
                  <a:extLst>
                    <a:ext uri="{9D8B030D-6E8A-4147-A177-3AD203B41FA5}">
                      <a16:colId xmlns:a16="http://schemas.microsoft.com/office/drawing/2014/main" val="1403317639"/>
                    </a:ext>
                  </a:extLst>
                </a:gridCol>
              </a:tblGrid>
              <a:tr h="3905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데이터 영역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한국어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데이터 유형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오디오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506224"/>
                  </a:ext>
                </a:extLst>
              </a:tr>
              <a:tr h="5145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데이터 형식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wav</a:t>
                      </a:r>
                      <a:endParaRPr lang="ko-KR" altLang="en-US" sz="1000" dirty="0">
                        <a:latin typeface="에스코어 드림 2 ExtraLight" panose="020B0203030302020204" pitchFamily="34" charset="-127"/>
                        <a:ea typeface="에스코어 드림 2 ExtraLight" panose="020B0203030302020204" pitchFamily="34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데이터 출처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호칭어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별명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공통 명령형 문장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문학과 비문학의 랜덤 문장</a:t>
                      </a:r>
                      <a:endParaRPr lang="ko-KR" altLang="en-US" sz="1000" dirty="0">
                        <a:latin typeface="에스코어 드림 2 ExtraLight" panose="020B0203030302020204" pitchFamily="34" charset="-127"/>
                        <a:ea typeface="에스코어 드림 2 ExtraLight" panose="020B0203030302020204" pitchFamily="34" charset="-127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680918"/>
                  </a:ext>
                </a:extLst>
              </a:tr>
              <a:tr h="4353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라벨링</a:t>
                      </a:r>
                      <a:r>
                        <a:rPr lang="ko-KR" altLang="en-US" sz="10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 유형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전사</a:t>
                      </a:r>
                      <a:r>
                        <a:rPr lang="en-US" altLang="ko-KR" sz="10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(</a:t>
                      </a:r>
                      <a:r>
                        <a:rPr lang="ko-KR" altLang="en-US" sz="10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음성</a:t>
                      </a:r>
                      <a:r>
                        <a:rPr lang="en-US" altLang="ko-KR" sz="10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)</a:t>
                      </a:r>
                      <a:endParaRPr lang="ko-KR" altLang="en-US" sz="1000" dirty="0">
                        <a:latin typeface="에스코어 드림 2 ExtraLight" panose="020B0203030302020204" pitchFamily="34" charset="-127"/>
                        <a:ea typeface="에스코어 드림 2 ExtraLight" panose="020B0203030302020204" pitchFamily="34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라벨링</a:t>
                      </a:r>
                      <a:r>
                        <a:rPr lang="ko-KR" altLang="en-US" sz="10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 형식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JSON</a:t>
                      </a:r>
                      <a:endParaRPr lang="ko-KR" altLang="en-US" sz="1000" dirty="0">
                        <a:latin typeface="에스코어 드림 2 ExtraLight" panose="020B0203030302020204" pitchFamily="34" charset="-127"/>
                        <a:ea typeface="에스코어 드림 2 ExtraLight" panose="020B0203030302020204" pitchFamily="34" charset="-127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053622"/>
                  </a:ext>
                </a:extLst>
              </a:tr>
              <a:tr h="4036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데이터 활용 서비스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화자 구분 서비스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데이터 </a:t>
                      </a:r>
                      <a:r>
                        <a:rPr lang="ko-KR" altLang="en-US" sz="1000" dirty="0" err="1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구축년도</a:t>
                      </a:r>
                      <a:r>
                        <a:rPr lang="ko-KR" altLang="en-US" sz="10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 </a:t>
                      </a:r>
                      <a:r>
                        <a:rPr lang="en-US" altLang="ko-KR" sz="10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/ </a:t>
                      </a:r>
                      <a:r>
                        <a:rPr lang="ko-KR" altLang="en-US" sz="10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데이터 </a:t>
                      </a:r>
                      <a:r>
                        <a:rPr lang="ko-KR" altLang="en-US" sz="1000" dirty="0" err="1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구축량</a:t>
                      </a:r>
                      <a:endParaRPr lang="ko-KR" altLang="en-US" sz="1000" dirty="0">
                        <a:latin typeface="에스코어 드림 2 ExtraLight" panose="020B0203030302020204" pitchFamily="34" charset="-127"/>
                        <a:ea typeface="에스코어 드림 2 ExtraLight" panose="020B0203030302020204" pitchFamily="34" charset="-127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2021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/7,345,994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  <a:cs typeface="+mn-cs"/>
                        </a:rPr>
                        <a:t>개</a:t>
                      </a:r>
                      <a:endParaRPr lang="ko-KR" altLang="en-US" sz="1000" dirty="0">
                        <a:latin typeface="에스코어 드림 2 ExtraLight" panose="020B0203030302020204" pitchFamily="34" charset="-127"/>
                        <a:ea typeface="에스코어 드림 2 ExtraLight" panose="020B0203030302020204" pitchFamily="34" charset="-127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867086"/>
                  </a:ext>
                </a:extLst>
              </a:tr>
            </a:tbl>
          </a:graphicData>
        </a:graphic>
      </p:graphicFrame>
      <p:graphicFrame>
        <p:nvGraphicFramePr>
          <p:cNvPr id="20" name="표 4">
            <a:extLst>
              <a:ext uri="{FF2B5EF4-FFF2-40B4-BE49-F238E27FC236}">
                <a16:creationId xmlns:a16="http://schemas.microsoft.com/office/drawing/2014/main" id="{1266A12B-320D-464B-A427-23970F21D9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145001"/>
              </p:ext>
            </p:extLst>
          </p:nvPr>
        </p:nvGraphicFramePr>
        <p:xfrm>
          <a:off x="2254008" y="5299690"/>
          <a:ext cx="8128000" cy="1021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5094">
                  <a:extLst>
                    <a:ext uri="{9D8B030D-6E8A-4147-A177-3AD203B41FA5}">
                      <a16:colId xmlns:a16="http://schemas.microsoft.com/office/drawing/2014/main" val="3357738940"/>
                    </a:ext>
                  </a:extLst>
                </a:gridCol>
                <a:gridCol w="7052906">
                  <a:extLst>
                    <a:ext uri="{9D8B030D-6E8A-4147-A177-3AD203B41FA5}">
                      <a16:colId xmlns:a16="http://schemas.microsoft.com/office/drawing/2014/main" val="36392209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en-US" altLang="ko-KR" sz="1100" dirty="0">
                        <a:latin typeface="에스코어 드림 2 ExtraLight" panose="020B0203030302020204" pitchFamily="34" charset="-127"/>
                        <a:ea typeface="에스코어 드림 2 ExtraLight" panose="020B0203030302020204" pitchFamily="34" charset="-127"/>
                      </a:endParaRPr>
                    </a:p>
                    <a:p>
                      <a:pPr algn="ctr" latinLnBrk="1"/>
                      <a:r>
                        <a:rPr lang="ko-KR" altLang="en-US" sz="11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장점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모델 구조가 간단하고 경량화 되어 있어 모바일 기기나 에지 디바이스 등에서도 쉽게 배포하고 사용 가능</a:t>
                      </a:r>
                      <a:endParaRPr lang="en-US" altLang="ko-KR" sz="1100" dirty="0">
                        <a:latin typeface="에스코어 드림 2 ExtraLight" panose="020B0203030302020204" pitchFamily="34" charset="-127"/>
                        <a:ea typeface="에스코어 드림 2 ExtraLight" panose="020B0203030302020204" pitchFamily="34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전통적인 </a:t>
                      </a:r>
                      <a:r>
                        <a:rPr lang="en-US" altLang="ko-KR" sz="11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x-vector </a:t>
                      </a:r>
                      <a:r>
                        <a:rPr lang="ko-KR" altLang="en-US" sz="11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모델과 비교하여 모델 크기가 약 </a:t>
                      </a:r>
                      <a:r>
                        <a:rPr lang="en-US" altLang="ko-KR" sz="11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6</a:t>
                      </a:r>
                      <a:r>
                        <a:rPr lang="ko-KR" altLang="en-US" sz="11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배 정도 작아져서 메모리 사용량이 줄어든다</a:t>
                      </a:r>
                      <a:r>
                        <a:rPr lang="en-US" altLang="ko-KR" sz="11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성능이 비교적 높고</a:t>
                      </a:r>
                      <a:r>
                        <a:rPr lang="en-US" altLang="ko-KR" sz="11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, </a:t>
                      </a:r>
                      <a:r>
                        <a:rPr lang="ko-KR" altLang="en-US" sz="11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적은 계산 리소스로도 높은 인식 성능을 보여준다</a:t>
                      </a:r>
                      <a:r>
                        <a:rPr lang="en-US" altLang="ko-KR" sz="11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496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>
                        <a:latin typeface="에스코어 드림 2 ExtraLight" panose="020B0203030302020204" pitchFamily="34" charset="-127"/>
                        <a:ea typeface="에스코어 드림 2 ExtraLight" panose="020B0203030302020204" pitchFamily="34" charset="-127"/>
                      </a:endParaRPr>
                    </a:p>
                    <a:p>
                      <a:pPr algn="ctr" latinLnBrk="1"/>
                      <a:r>
                        <a:rPr lang="ko-KR" altLang="en-US" sz="11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단점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모델 구조가 </a:t>
                      </a:r>
                      <a:r>
                        <a:rPr lang="ko-KR" altLang="en-US" sz="1100" dirty="0" err="1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경량화되어</a:t>
                      </a:r>
                      <a:r>
                        <a:rPr lang="ko-KR" altLang="en-US" sz="11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 있어서 더 복잡한 음성 처리 </a:t>
                      </a:r>
                      <a:r>
                        <a:rPr lang="en-US" altLang="ko-KR" sz="11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task</a:t>
                      </a:r>
                      <a:r>
                        <a:rPr lang="ko-KR" altLang="en-US" sz="11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를 수행하는 데는 적합하지 않을 수 있다</a:t>
                      </a:r>
                      <a:r>
                        <a:rPr lang="en-US" altLang="ko-KR" sz="11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데이터셋이 매우 작은 경우에는 전통적인 </a:t>
                      </a:r>
                      <a:r>
                        <a:rPr lang="en-US" altLang="ko-KR" sz="11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x-vector </a:t>
                      </a:r>
                      <a:r>
                        <a:rPr lang="ko-KR" altLang="en-US" sz="11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모델과 비교하여 성능이 떨어질 수 있다</a:t>
                      </a:r>
                      <a:r>
                        <a:rPr lang="en-US" altLang="ko-KR" sz="1100" dirty="0">
                          <a:latin typeface="에스코어 드림 2 ExtraLight" panose="020B0203030302020204" pitchFamily="34" charset="-127"/>
                          <a:ea typeface="에스코어 드림 2 ExtraLight" panose="020B0203030302020204" pitchFamily="34" charset="-127"/>
                        </a:rPr>
                        <a:t>.</a:t>
                      </a:r>
                      <a:endParaRPr lang="ko-KR" altLang="en-US" sz="1100" dirty="0">
                        <a:latin typeface="에스코어 드림 2 ExtraLight" panose="020B0203030302020204" pitchFamily="34" charset="-127"/>
                        <a:ea typeface="에스코어 드림 2 ExtraLight" panose="020B0203030302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2897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9631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F2880FBB-F75B-4F3D-AF56-DCDFD82D1D58}"/>
              </a:ext>
            </a:extLst>
          </p:cNvPr>
          <p:cNvGrpSpPr/>
          <p:nvPr/>
        </p:nvGrpSpPr>
        <p:grpSpPr>
          <a:xfrm>
            <a:off x="-1103845" y="-19050"/>
            <a:ext cx="3072663" cy="1395190"/>
            <a:chOff x="10359306" y="124840"/>
            <a:chExt cx="3072663" cy="139519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4A33C51-633A-4041-B915-A10D58C9C99A}"/>
                </a:ext>
              </a:extLst>
            </p:cNvPr>
            <p:cNvSpPr txBox="1"/>
            <p:nvPr/>
          </p:nvSpPr>
          <p:spPr>
            <a:xfrm>
              <a:off x="10359306" y="555727"/>
              <a:ext cx="3072663" cy="9643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20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 </a:t>
              </a:r>
              <a:r>
                <a:rPr lang="ko-KR" altLang="en-US" sz="1600" spc="-150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핵심 기술</a:t>
              </a:r>
              <a:endParaRPr lang="en-US" altLang="ko-KR" sz="2000" spc="-15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algn="ctr">
                <a:lnSpc>
                  <a:spcPct val="150000"/>
                </a:lnSpc>
              </a:pPr>
              <a:endParaRPr lang="en-US" altLang="ko-KR" sz="20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2088941-CA30-4F20-86E8-382F61447AD6}"/>
                </a:ext>
              </a:extLst>
            </p:cNvPr>
            <p:cNvSpPr txBox="1"/>
            <p:nvPr/>
          </p:nvSpPr>
          <p:spPr>
            <a:xfrm rot="5400000">
              <a:off x="11782843" y="-118969"/>
              <a:ext cx="861774" cy="1349392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US" altLang="ko-KR" sz="4400" spc="-3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04</a:t>
              </a:r>
              <a:endParaRPr lang="ko-KR" altLang="en-US" sz="4400" spc="-3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1B1AAD2-1C28-453D-9ED9-8DDB18844F36}"/>
              </a:ext>
            </a:extLst>
          </p:cNvPr>
          <p:cNvSpPr txBox="1"/>
          <p:nvPr/>
        </p:nvSpPr>
        <p:spPr>
          <a:xfrm>
            <a:off x="1840750" y="456572"/>
            <a:ext cx="5498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1. 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입력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: 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음성 신호</a:t>
            </a:r>
            <a:endParaRPr lang="en-US" altLang="ko-KR" sz="1000" dirty="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음성 신호는 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STFT(short-time Fourier transform)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를 통해 시간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-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주파수 도메인으로 변환된다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. </a:t>
            </a:r>
            <a:endParaRPr lang="ko-KR" altLang="en-US" sz="1000" dirty="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</p:txBody>
      </p:sp>
      <p:sp>
        <p:nvSpPr>
          <p:cNvPr id="30" name="화살표: 아래쪽 29">
            <a:extLst>
              <a:ext uri="{FF2B5EF4-FFF2-40B4-BE49-F238E27FC236}">
                <a16:creationId xmlns:a16="http://schemas.microsoft.com/office/drawing/2014/main" id="{89116B46-6788-4C0D-891B-2BC91281F4D3}"/>
              </a:ext>
            </a:extLst>
          </p:cNvPr>
          <p:cNvSpPr/>
          <p:nvPr/>
        </p:nvSpPr>
        <p:spPr>
          <a:xfrm>
            <a:off x="4457178" y="996610"/>
            <a:ext cx="271307" cy="33159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68DAAC-5562-4FD5-ACD5-DB4B2B78BD64}"/>
              </a:ext>
            </a:extLst>
          </p:cNvPr>
          <p:cNvSpPr txBox="1"/>
          <p:nvPr/>
        </p:nvSpPr>
        <p:spPr>
          <a:xfrm>
            <a:off x="1840750" y="1448919"/>
            <a:ext cx="54987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2. Convolutional Neural Network (CNN) feature extractor: 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특성 추출</a:t>
            </a:r>
            <a:endParaRPr lang="en-US" altLang="ko-KR" sz="1000" dirty="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변환된 주파수 도메인 신호를 기반으로 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CNN feature extractor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를 통해 특성을 추출한다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.</a:t>
            </a:r>
            <a:endParaRPr lang="ko-KR" altLang="en-US" sz="1000" dirty="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CNN layer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는 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1D-convolution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을 사용하며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, 40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개의 필터와 </a:t>
            </a:r>
            <a:r>
              <a:rPr lang="en-US" altLang="ko-KR" sz="1000" dirty="0" err="1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ReLU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 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활성화 함수를 사용한다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.</a:t>
            </a:r>
            <a:endParaRPr lang="ko-KR" altLang="en-US" sz="1000" dirty="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다음으로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, 2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개의 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max pooling layer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를 거치면서 특성의 길이를 줄인다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8B7211-FCE3-4474-B07A-5B6FD2B33A19}"/>
              </a:ext>
            </a:extLst>
          </p:cNvPr>
          <p:cNvSpPr txBox="1"/>
          <p:nvPr/>
        </p:nvSpPr>
        <p:spPr>
          <a:xfrm>
            <a:off x="1840750" y="2719331"/>
            <a:ext cx="698579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3. Time delay neural network (TDNN)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TDNN layer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는 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CNN feature extractor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에서 추출된 특성에 대해 입력 시퀀스를 다양한 시간 간격으로 모델링하고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, </a:t>
            </a:r>
            <a:b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</a:b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이를 통해 지연 시간이 짧은 정보와 긴 정보를 모두 포착할 수 있다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.</a:t>
            </a:r>
            <a:endParaRPr lang="ko-KR" altLang="en-US" sz="1000" dirty="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TDNN layer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는 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5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개의 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layer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로 구성되며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, 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각각의 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layer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는 서로 다른 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dilation rate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를 가지고 있는 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1D-convolution layer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와 </a:t>
            </a:r>
            <a:b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</a:br>
            <a:r>
              <a:rPr lang="en-US" altLang="ko-KR" sz="1000" dirty="0" err="1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ReLU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 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활성화 함수를 사용한다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2E5AC7-470A-4CB3-B050-3BF28A138950}"/>
              </a:ext>
            </a:extLst>
          </p:cNvPr>
          <p:cNvSpPr txBox="1"/>
          <p:nvPr/>
        </p:nvSpPr>
        <p:spPr>
          <a:xfrm>
            <a:off x="1840750" y="4056820"/>
            <a:ext cx="89731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4. Statistics pooling : 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각 화자마다 고유한 벡터 구하기</a:t>
            </a:r>
            <a:endParaRPr lang="en-US" altLang="ko-KR" sz="1000" dirty="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TDNN layer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를 거친 출력은 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time-step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과 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speaker representation(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각 화자마다 고유한 대표 벡터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)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로 구성된다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.</a:t>
            </a:r>
            <a:endParaRPr lang="ko-KR" altLang="en-US" sz="1000" dirty="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Statistics pooling layer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는 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time-step 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축을 제거하고 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speaker representation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을 구함</a:t>
            </a:r>
          </a:p>
          <a:p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(speaker representation: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 추출된 특성 시퀀스에 대해 모든 시간 축에서의 평균값과 표준편차를 구한 뒤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, 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두 값을 이어 붙인 벡터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)</a:t>
            </a:r>
          </a:p>
        </p:txBody>
      </p:sp>
      <p:sp>
        <p:nvSpPr>
          <p:cNvPr id="34" name="화살표: 아래쪽 33">
            <a:extLst>
              <a:ext uri="{FF2B5EF4-FFF2-40B4-BE49-F238E27FC236}">
                <a16:creationId xmlns:a16="http://schemas.microsoft.com/office/drawing/2014/main" id="{A7F9D21C-ABBF-4E44-AFE0-208D9362AA16}"/>
              </a:ext>
            </a:extLst>
          </p:cNvPr>
          <p:cNvSpPr/>
          <p:nvPr/>
        </p:nvSpPr>
        <p:spPr>
          <a:xfrm>
            <a:off x="4457178" y="2321753"/>
            <a:ext cx="271307" cy="33159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</p:txBody>
      </p:sp>
      <p:sp>
        <p:nvSpPr>
          <p:cNvPr id="35" name="화살표: 아래쪽 34">
            <a:extLst>
              <a:ext uri="{FF2B5EF4-FFF2-40B4-BE49-F238E27FC236}">
                <a16:creationId xmlns:a16="http://schemas.microsoft.com/office/drawing/2014/main" id="{C3CDD7C4-0C1F-4FA7-B6CF-DF2961A17535}"/>
              </a:ext>
            </a:extLst>
          </p:cNvPr>
          <p:cNvSpPr/>
          <p:nvPr/>
        </p:nvSpPr>
        <p:spPr>
          <a:xfrm>
            <a:off x="4457178" y="3633355"/>
            <a:ext cx="271307" cy="33159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</p:txBody>
      </p:sp>
      <p:sp>
        <p:nvSpPr>
          <p:cNvPr id="36" name="화살표: 아래쪽 35">
            <a:extLst>
              <a:ext uri="{FF2B5EF4-FFF2-40B4-BE49-F238E27FC236}">
                <a16:creationId xmlns:a16="http://schemas.microsoft.com/office/drawing/2014/main" id="{7BB05F4D-CCB5-4E5F-9E25-18B16EDBA3C8}"/>
              </a:ext>
            </a:extLst>
          </p:cNvPr>
          <p:cNvSpPr/>
          <p:nvPr/>
        </p:nvSpPr>
        <p:spPr>
          <a:xfrm>
            <a:off x="4457178" y="4896538"/>
            <a:ext cx="271307" cy="33159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C0D946-7FA1-4562-AA3F-535EC4FA78C6}"/>
              </a:ext>
            </a:extLst>
          </p:cNvPr>
          <p:cNvSpPr txBox="1"/>
          <p:nvPr/>
        </p:nvSpPr>
        <p:spPr>
          <a:xfrm>
            <a:off x="1840750" y="5240421"/>
            <a:ext cx="89731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5. Fully-connected layer: </a:t>
            </a:r>
            <a:r>
              <a:rPr lang="ko-KR" altLang="en-US" sz="100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벡터를 통한 화자 구분</a:t>
            </a:r>
            <a:endParaRPr lang="en-US" altLang="ko-KR" sz="1000" dirty="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speaker representation 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벡터는 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fully-connected layer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를 통해 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speaker classification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을 수행함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fully-connected layer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는 </a:t>
            </a:r>
            <a:r>
              <a:rPr lang="en-US" altLang="ko-KR" sz="1000" dirty="0" err="1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ReLU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 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활성화 함수와 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dropout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을 사용함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B88FB4E-128C-464B-940A-880303783BA0}"/>
              </a:ext>
            </a:extLst>
          </p:cNvPr>
          <p:cNvSpPr txBox="1"/>
          <p:nvPr/>
        </p:nvSpPr>
        <p:spPr>
          <a:xfrm>
            <a:off x="1834556" y="6270134"/>
            <a:ext cx="26226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6. 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출력</a:t>
            </a:r>
            <a:r>
              <a:rPr lang="en-US" altLang="ko-KR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: speaker classification </a:t>
            </a:r>
            <a:r>
              <a:rPr lang="ko-KR" altLang="en-US" sz="1000" dirty="0">
                <a:latin typeface="에스코어 드림 2 ExtraLight" panose="020B0203030302020204" pitchFamily="34" charset="-127"/>
                <a:ea typeface="에스코어 드림 2 ExtraLight" panose="020B0203030302020204" pitchFamily="34" charset="-127"/>
              </a:rPr>
              <a:t>결과</a:t>
            </a:r>
            <a:endParaRPr lang="en-US" altLang="ko-KR" sz="1000" dirty="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</p:txBody>
      </p:sp>
      <p:sp>
        <p:nvSpPr>
          <p:cNvPr id="39" name="화살표: 아래쪽 38">
            <a:extLst>
              <a:ext uri="{FF2B5EF4-FFF2-40B4-BE49-F238E27FC236}">
                <a16:creationId xmlns:a16="http://schemas.microsoft.com/office/drawing/2014/main" id="{006F87E2-739E-45E8-971A-E56362CBD306}"/>
              </a:ext>
            </a:extLst>
          </p:cNvPr>
          <p:cNvSpPr/>
          <p:nvPr/>
        </p:nvSpPr>
        <p:spPr>
          <a:xfrm>
            <a:off x="4457178" y="5901169"/>
            <a:ext cx="271307" cy="33159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>
              <a:latin typeface="에스코어 드림 2 ExtraLight" panose="020B0203030302020204" pitchFamily="34" charset="-127"/>
              <a:ea typeface="에스코어 드림 2 ExtraLight" panose="020B02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0170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6FB52113-A9C4-4F85-8FB0-1F22BA8904E5}"/>
              </a:ext>
            </a:extLst>
          </p:cNvPr>
          <p:cNvGrpSpPr/>
          <p:nvPr/>
        </p:nvGrpSpPr>
        <p:grpSpPr>
          <a:xfrm>
            <a:off x="4241799" y="2389503"/>
            <a:ext cx="5695203" cy="2078994"/>
            <a:chOff x="2142064" y="1915691"/>
            <a:chExt cx="5695203" cy="2078994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572CBD15-4232-44F9-8CB7-C682E0521D78}"/>
                </a:ext>
              </a:extLst>
            </p:cNvPr>
            <p:cNvGrpSpPr/>
            <p:nvPr/>
          </p:nvGrpSpPr>
          <p:grpSpPr>
            <a:xfrm>
              <a:off x="2427701" y="1915691"/>
              <a:ext cx="3261899" cy="2078994"/>
              <a:chOff x="2427701" y="1915691"/>
              <a:chExt cx="3261899" cy="2078994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7C59D7-7B87-4D03-B11B-F146E1C373C0}"/>
                  </a:ext>
                </a:extLst>
              </p:cNvPr>
              <p:cNvSpPr txBox="1"/>
              <p:nvPr/>
            </p:nvSpPr>
            <p:spPr>
              <a:xfrm>
                <a:off x="2522318" y="3492047"/>
                <a:ext cx="3072663" cy="5026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endParaRPr lang="en-US" altLang="ko-KR" sz="20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26A7792-D3A1-4FC0-BCB8-DD1669840839}"/>
                  </a:ext>
                </a:extLst>
              </p:cNvPr>
              <p:cNvSpPr txBox="1"/>
              <p:nvPr/>
            </p:nvSpPr>
            <p:spPr>
              <a:xfrm rot="5400000">
                <a:off x="3017959" y="1325433"/>
                <a:ext cx="1954381" cy="3134897"/>
              </a:xfrm>
              <a:prstGeom prst="rect">
                <a:avLst/>
              </a:prstGeom>
              <a:noFill/>
            </p:spPr>
            <p:txBody>
              <a:bodyPr vert="vert270" wrap="square" rtlCol="0">
                <a:spAutoFit/>
              </a:bodyPr>
              <a:lstStyle/>
              <a:p>
                <a:r>
                  <a:rPr lang="en-US" altLang="ko-KR" sz="11500" spc="-300" dirty="0">
                    <a:latin typeface="에스코어 드림 9 Black" panose="020B0A03030302020204" pitchFamily="34" charset="-127"/>
                    <a:ea typeface="에스코어 드림 9 Black" panose="020B0A03030302020204" pitchFamily="34" charset="-127"/>
                  </a:rPr>
                  <a:t>05</a:t>
                </a:r>
                <a:endParaRPr lang="ko-KR" altLang="en-US" sz="11500" spc="-3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endParaRPr>
              </a:p>
            </p:txBody>
          </p: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EE7D784A-1D1F-4E9B-A4B2-BA2A5F45F6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27701" y="3474050"/>
                <a:ext cx="3261899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7E44F31-6598-4E94-AE4E-CBF34DEF51A4}"/>
                </a:ext>
              </a:extLst>
            </p:cNvPr>
            <p:cNvSpPr txBox="1"/>
            <p:nvPr/>
          </p:nvSpPr>
          <p:spPr>
            <a:xfrm>
              <a:off x="2142064" y="2612226"/>
              <a:ext cx="5695203" cy="8308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3600" spc="-15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역할</a:t>
              </a:r>
              <a:endParaRPr lang="en-US" altLang="ko-KR" sz="3600" spc="-15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4064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C83E7AE-80A5-4A97-BB48-A0BB899D6C1D}"/>
              </a:ext>
            </a:extLst>
          </p:cNvPr>
          <p:cNvCxnSpPr/>
          <p:nvPr/>
        </p:nvCxnSpPr>
        <p:spPr>
          <a:xfrm>
            <a:off x="2174875" y="1426216"/>
            <a:ext cx="78422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3827922-67D8-476B-A032-C9A507C578C8}"/>
              </a:ext>
            </a:extLst>
          </p:cNvPr>
          <p:cNvSpPr txBox="1"/>
          <p:nvPr/>
        </p:nvSpPr>
        <p:spPr>
          <a:xfrm>
            <a:off x="5353502" y="893988"/>
            <a:ext cx="15929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spc="-15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역할 분담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79C83D7-19D6-4654-84F7-5985876E3E7F}"/>
              </a:ext>
            </a:extLst>
          </p:cNvPr>
          <p:cNvCxnSpPr/>
          <p:nvPr/>
        </p:nvCxnSpPr>
        <p:spPr>
          <a:xfrm>
            <a:off x="2228850" y="6582979"/>
            <a:ext cx="78422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812A5DD-5E01-407D-B530-7F7C565CC8BB}"/>
              </a:ext>
            </a:extLst>
          </p:cNvPr>
          <p:cNvGrpSpPr/>
          <p:nvPr/>
        </p:nvGrpSpPr>
        <p:grpSpPr>
          <a:xfrm>
            <a:off x="-1103844" y="-19050"/>
            <a:ext cx="3056470" cy="1395190"/>
            <a:chOff x="10359307" y="124840"/>
            <a:chExt cx="3056470" cy="139519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BBB5E46-E92E-4771-BF44-D5416270EC26}"/>
                </a:ext>
              </a:extLst>
            </p:cNvPr>
            <p:cNvSpPr txBox="1"/>
            <p:nvPr/>
          </p:nvSpPr>
          <p:spPr>
            <a:xfrm>
              <a:off x="10359307" y="555727"/>
              <a:ext cx="3056470" cy="9643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20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 </a:t>
              </a:r>
              <a:r>
                <a:rPr lang="ko-KR" altLang="en-US" sz="1600" spc="-150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역할</a:t>
              </a:r>
              <a:endParaRPr lang="en-US" altLang="ko-KR" sz="2000" spc="-15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algn="ctr">
                <a:lnSpc>
                  <a:spcPct val="150000"/>
                </a:lnSpc>
              </a:pPr>
              <a:endParaRPr lang="en-US" altLang="ko-KR" sz="20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76D3E44-41A3-4AF7-A13D-5AC078DD0717}"/>
                </a:ext>
              </a:extLst>
            </p:cNvPr>
            <p:cNvSpPr txBox="1"/>
            <p:nvPr/>
          </p:nvSpPr>
          <p:spPr>
            <a:xfrm rot="5400000">
              <a:off x="11782843" y="-118969"/>
              <a:ext cx="861774" cy="1349392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US" altLang="ko-KR" sz="4400" spc="-3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05</a:t>
              </a:r>
              <a:endParaRPr lang="ko-KR" altLang="en-US" sz="4400" spc="-3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402DC2E-5169-4134-83D2-A8E88DB90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776435"/>
              </p:ext>
            </p:extLst>
          </p:nvPr>
        </p:nvGraphicFramePr>
        <p:xfrm>
          <a:off x="3611318" y="1528100"/>
          <a:ext cx="4969364" cy="4973300"/>
        </p:xfrm>
        <a:graphic>
          <a:graphicData uri="http://schemas.openxmlformats.org/drawingml/2006/table">
            <a:tbl>
              <a:tblPr/>
              <a:tblGrid>
                <a:gridCol w="786292">
                  <a:extLst>
                    <a:ext uri="{9D8B030D-6E8A-4147-A177-3AD203B41FA5}">
                      <a16:colId xmlns:a16="http://schemas.microsoft.com/office/drawing/2014/main" val="541501190"/>
                    </a:ext>
                  </a:extLst>
                </a:gridCol>
                <a:gridCol w="975002">
                  <a:extLst>
                    <a:ext uri="{9D8B030D-6E8A-4147-A177-3AD203B41FA5}">
                      <a16:colId xmlns:a16="http://schemas.microsoft.com/office/drawing/2014/main" val="428457291"/>
                    </a:ext>
                  </a:extLst>
                </a:gridCol>
                <a:gridCol w="1816334">
                  <a:extLst>
                    <a:ext uri="{9D8B030D-6E8A-4147-A177-3AD203B41FA5}">
                      <a16:colId xmlns:a16="http://schemas.microsoft.com/office/drawing/2014/main" val="2301279351"/>
                    </a:ext>
                  </a:extLst>
                </a:gridCol>
                <a:gridCol w="1391736">
                  <a:extLst>
                    <a:ext uri="{9D8B030D-6E8A-4147-A177-3AD203B41FA5}">
                      <a16:colId xmlns:a16="http://schemas.microsoft.com/office/drawing/2014/main" val="3091972276"/>
                    </a:ext>
                  </a:extLst>
                </a:gridCol>
              </a:tblGrid>
              <a:tr h="38371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업무내용</a:t>
                      </a: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담당자</a:t>
                      </a: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841357"/>
                  </a:ext>
                </a:extLst>
              </a:tr>
              <a:tr h="38371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계획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총괄 및 일정 계획</a:t>
                      </a: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구나영</a:t>
                      </a: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6749932"/>
                  </a:ext>
                </a:extLst>
              </a:tr>
              <a:tr h="295646">
                <a:tc row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설계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구조 설계</a:t>
                      </a: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애플리케이션 인터페이스 설계</a:t>
                      </a: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송가은</a:t>
                      </a: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7624323"/>
                  </a:ext>
                </a:extLst>
              </a:tr>
              <a:tr h="2956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rgbClr val="666666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rgbClr val="666666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시스템 구조 설계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(</a:t>
                      </a:r>
                      <a:r>
                        <a:rPr lang="ko-KR" altLang="en-US" sz="700" kern="0" spc="0" dirty="0" err="1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라즈베리파이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)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구나영</a:t>
                      </a: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8498392"/>
                  </a:ext>
                </a:extLst>
              </a:tr>
              <a:tr h="4340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서버 구조 설계</a:t>
                      </a: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 err="1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고수연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2813291"/>
                  </a:ext>
                </a:extLst>
              </a:tr>
              <a:tr h="2956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상세 설계</a:t>
                      </a: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시스템 상세 설계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(</a:t>
                      </a:r>
                      <a:r>
                        <a:rPr lang="ko-KR" altLang="en-US" sz="700" kern="0" spc="0" dirty="0" err="1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라즈베리파이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)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구나영</a:t>
                      </a: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0421616"/>
                  </a:ext>
                </a:extLst>
              </a:tr>
              <a:tr h="4340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rgbClr val="666666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네트워크 상세 설계</a:t>
                      </a: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송가은</a:t>
                      </a: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236839"/>
                  </a:ext>
                </a:extLst>
              </a:tr>
              <a:tr h="3538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서버 상세 설계</a:t>
                      </a: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고수연</a:t>
                      </a: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850997"/>
                  </a:ext>
                </a:extLst>
              </a:tr>
              <a:tr h="353831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구현</a:t>
                      </a: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애플리케이션</a:t>
                      </a: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rgbClr val="666666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 err="1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고수연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 err="1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송가은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5460209"/>
                  </a:ext>
                </a:extLst>
              </a:tr>
              <a:tr h="4796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rgbClr val="666666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서버</a:t>
                      </a: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 err="1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고수연</a:t>
                      </a:r>
                      <a:endParaRPr lang="en-US" altLang="ko-KR" sz="700" kern="0" spc="0" dirty="0">
                        <a:solidFill>
                          <a:srgbClr val="000000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구나영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 err="1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송가은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2399691"/>
                  </a:ext>
                </a:extLst>
              </a:tr>
              <a:tr h="2956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 err="1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도어락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 err="1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고수연</a:t>
                      </a:r>
                      <a:endParaRPr lang="en-US" altLang="ko-KR" sz="700" kern="0" spc="0" dirty="0">
                        <a:solidFill>
                          <a:srgbClr val="000000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구나영</a:t>
                      </a: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6024984"/>
                  </a:ext>
                </a:extLst>
              </a:tr>
              <a:tr h="4340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인공지능</a:t>
                      </a: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구나영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송가은</a:t>
                      </a: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7837927"/>
                  </a:ext>
                </a:extLst>
              </a:tr>
              <a:tr h="2956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네트워크</a:t>
                      </a: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 err="1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고수연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구나영</a:t>
                      </a:r>
                    </a:p>
                  </a:txBody>
                  <a:tcPr marL="45262" marR="45262" marT="12514" marB="125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334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9535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9AB505EC-849F-4D6B-9ED2-FC7B3811B488}"/>
              </a:ext>
            </a:extLst>
          </p:cNvPr>
          <p:cNvGrpSpPr/>
          <p:nvPr/>
        </p:nvGrpSpPr>
        <p:grpSpPr>
          <a:xfrm>
            <a:off x="3769981" y="2387614"/>
            <a:ext cx="3957795" cy="2080883"/>
            <a:chOff x="1731805" y="1913802"/>
            <a:chExt cx="3957795" cy="208088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FA39FBE-348C-4014-A83C-68D769410D99}"/>
                </a:ext>
              </a:extLst>
            </p:cNvPr>
            <p:cNvSpPr txBox="1"/>
            <p:nvPr/>
          </p:nvSpPr>
          <p:spPr>
            <a:xfrm>
              <a:off x="2522318" y="3492047"/>
              <a:ext cx="3072663" cy="502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lang="en-US" altLang="ko-KR" sz="20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0719A67-1376-4255-BB46-62DFE93FBC75}"/>
                </a:ext>
              </a:extLst>
            </p:cNvPr>
            <p:cNvSpPr txBox="1"/>
            <p:nvPr/>
          </p:nvSpPr>
          <p:spPr>
            <a:xfrm rot="5400000">
              <a:off x="2322063" y="1323544"/>
              <a:ext cx="1954381" cy="3134897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US" altLang="ko-KR" sz="11500" spc="-3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06</a:t>
              </a:r>
              <a:endParaRPr lang="ko-KR" altLang="en-US" sz="11500" spc="-3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DFE320DA-61FA-49A7-9236-74E2245078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27701" y="3474050"/>
              <a:ext cx="3261899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9FD30F7-A433-434A-9EAE-B5FD942402D4}"/>
              </a:ext>
            </a:extLst>
          </p:cNvPr>
          <p:cNvSpPr txBox="1"/>
          <p:nvPr/>
        </p:nvSpPr>
        <p:spPr>
          <a:xfrm>
            <a:off x="4241800" y="3086038"/>
            <a:ext cx="5045076" cy="830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600" spc="-150"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참고 문헌</a:t>
            </a:r>
            <a:endParaRPr lang="en-US" altLang="ko-KR" sz="3600" spc="-150" dirty="0"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6310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C83E7AE-80A5-4A97-BB48-A0BB899D6C1D}"/>
              </a:ext>
            </a:extLst>
          </p:cNvPr>
          <p:cNvCxnSpPr/>
          <p:nvPr/>
        </p:nvCxnSpPr>
        <p:spPr>
          <a:xfrm>
            <a:off x="2174875" y="1191630"/>
            <a:ext cx="78422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3827922-67D8-476B-A032-C9A507C578C8}"/>
              </a:ext>
            </a:extLst>
          </p:cNvPr>
          <p:cNvSpPr txBox="1"/>
          <p:nvPr/>
        </p:nvSpPr>
        <p:spPr>
          <a:xfrm>
            <a:off x="5304422" y="581114"/>
            <a:ext cx="1583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spc="-150"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참고 문헌</a:t>
            </a:r>
            <a:endParaRPr lang="ko-KR" altLang="en-US" sz="2800" spc="-150" dirty="0"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79C83D7-19D6-4654-84F7-5985876E3E7F}"/>
              </a:ext>
            </a:extLst>
          </p:cNvPr>
          <p:cNvCxnSpPr/>
          <p:nvPr/>
        </p:nvCxnSpPr>
        <p:spPr>
          <a:xfrm>
            <a:off x="2229109" y="6460011"/>
            <a:ext cx="78422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F1E844A-2AA1-4117-8CF0-0F6906766984}"/>
              </a:ext>
            </a:extLst>
          </p:cNvPr>
          <p:cNvGrpSpPr/>
          <p:nvPr/>
        </p:nvGrpSpPr>
        <p:grpSpPr>
          <a:xfrm>
            <a:off x="-1103845" y="-19050"/>
            <a:ext cx="3150359" cy="1395190"/>
            <a:chOff x="10359306" y="124840"/>
            <a:chExt cx="3150359" cy="139519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09CEB39-5F28-4BC7-B219-4C704A0AFA90}"/>
                </a:ext>
              </a:extLst>
            </p:cNvPr>
            <p:cNvSpPr txBox="1"/>
            <p:nvPr/>
          </p:nvSpPr>
          <p:spPr>
            <a:xfrm>
              <a:off x="10359306" y="555727"/>
              <a:ext cx="3150359" cy="9643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200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 </a:t>
              </a:r>
              <a:r>
                <a:rPr lang="ko-KR" altLang="en-US" sz="1600" spc="-150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참고 문헌</a:t>
              </a:r>
              <a:endParaRPr lang="en-US" altLang="ko-KR" sz="2000" spc="-15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algn="ctr">
                <a:lnSpc>
                  <a:spcPct val="150000"/>
                </a:lnSpc>
              </a:pPr>
              <a:endParaRPr lang="en-US" altLang="ko-KR" sz="20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43F7F5C-AD1C-4352-B315-05550CD57F87}"/>
                </a:ext>
              </a:extLst>
            </p:cNvPr>
            <p:cNvSpPr txBox="1"/>
            <p:nvPr/>
          </p:nvSpPr>
          <p:spPr>
            <a:xfrm rot="5400000">
              <a:off x="11782843" y="-118969"/>
              <a:ext cx="861774" cy="1349392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US" altLang="ko-KR" sz="4400" spc="-300" dirty="0"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06</a:t>
              </a:r>
              <a:endParaRPr lang="ko-KR" altLang="en-US" sz="4400" spc="-300" dirty="0"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35350058-605A-46D2-BFA7-DE2D00990174}"/>
              </a:ext>
            </a:extLst>
          </p:cNvPr>
          <p:cNvSpPr/>
          <p:nvPr/>
        </p:nvSpPr>
        <p:spPr>
          <a:xfrm>
            <a:off x="750579" y="1231365"/>
            <a:ext cx="10194666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&lt;논문&gt;</a:t>
            </a:r>
          </a:p>
          <a:p>
            <a:pPr algn="ctr"/>
            <a:endParaRPr lang="ko-KR" altLang="en-US" sz="900" dirty="0">
              <a:latin typeface="에스코어 드림 1 Thin" panose="020B0403030302020204" pitchFamily="34" charset="-127"/>
              <a:ea typeface="에스코어 드림 1 Thin" panose="020B0403030302020204" pitchFamily="34" charset="-127"/>
            </a:endParaRPr>
          </a:p>
          <a:p>
            <a:pPr algn="ctr"/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김학용. (2021). 지능형 사물인터넷과 에지 컴퓨팅 동향. 정보처리학회지, 28(2), 26-33.</a:t>
            </a:r>
          </a:p>
          <a:p>
            <a:pPr algn="ctr"/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이건우. "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엣지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 컴퓨팅 기반의 고가용성을 위한 분산 처리 시스템에 관한 연구."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국내석사학위논문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 한국산업기술대학교 일반대학원, 2021. 경기도</a:t>
            </a:r>
          </a:p>
          <a:p>
            <a:pPr algn="ctr"/>
            <a:endParaRPr lang="ko-KR" altLang="en-US" sz="900" dirty="0">
              <a:latin typeface="에스코어 드림 1 Thin" panose="020B0403030302020204" pitchFamily="34" charset="-127"/>
              <a:ea typeface="에스코어 드림 1 Thin" panose="020B0403030302020204" pitchFamily="34" charset="-127"/>
            </a:endParaRPr>
          </a:p>
          <a:p>
            <a:pPr algn="ctr"/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이성근.(2019).사물 네트워크에서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LoRa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 기반 네트워크 프로토콜 설계 및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적용.한국전자통신학회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 논문지,14(6),1089-1096.</a:t>
            </a:r>
          </a:p>
          <a:p>
            <a:pPr algn="ctr"/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구성완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,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류대우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.(2022).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IoT환경에서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LoRa모듈의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 장시간 사용을 위한 전류소모량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개선방안.한국디지털콘텐츠학회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 논문지,23(7),1307-1313.</a:t>
            </a:r>
          </a:p>
          <a:p>
            <a:pPr algn="ctr"/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이성근.(2019).사물 네트워크에서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LoRa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 기반 네트워크 프로토콜 설계 및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적용.한국전자통신학회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 논문지,14(6),1089-1096.</a:t>
            </a:r>
          </a:p>
          <a:p>
            <a:pPr algn="ctr"/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정준, 박재훈, 이원철.(2016).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라즈베리파이와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LoRa를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 이용한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IoT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 스펙트럼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센싱기기.한국통신학회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 학술대회논문집,(),486-487.</a:t>
            </a:r>
          </a:p>
          <a:p>
            <a:pPr algn="ctr"/>
            <a:endParaRPr lang="ko-KR" altLang="en-US" sz="900" dirty="0">
              <a:latin typeface="에스코어 드림 1 Thin" panose="020B0403030302020204" pitchFamily="34" charset="-127"/>
              <a:ea typeface="에스코어 드림 1 Thin" panose="020B0403030302020204" pitchFamily="34" charset="-127"/>
            </a:endParaRPr>
          </a:p>
          <a:p>
            <a:pPr algn="ctr"/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장중부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. "앙상블 모델을 활용한 화자인식 정확도 향상."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국내석사학위논문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 한양대학교 공학대학원, 2022. 서울</a:t>
            </a:r>
          </a:p>
          <a:p>
            <a:pPr algn="ctr"/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김승현,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이성주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.(2014).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가우시안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 혼합 모델을 사용한 효율적인 화자인식 프로그램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구현.대한전자공학회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 학술대회,(),303-305.</a:t>
            </a:r>
          </a:p>
          <a:p>
            <a:pPr algn="ctr"/>
            <a:endParaRPr lang="ko-KR" altLang="en-US" sz="900" dirty="0">
              <a:latin typeface="에스코어 드림 1 Thin" panose="020B0403030302020204" pitchFamily="34" charset="-127"/>
              <a:ea typeface="에스코어 드림 1 Thin" panose="020B0403030302020204" pitchFamily="34" charset="-127"/>
            </a:endParaRPr>
          </a:p>
          <a:p>
            <a:pPr algn="ctr"/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조은숙,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송치양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.(2022).클라우드 기반의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IoT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 소프트웨어 개발을 위한 메타 모델 및 정형 명세.융복합지식학회논문지,10(4),121-132.</a:t>
            </a:r>
          </a:p>
          <a:p>
            <a:pPr algn="ctr"/>
            <a:endParaRPr lang="ko-KR" altLang="en-US" sz="900" dirty="0">
              <a:latin typeface="에스코어 드림 1 Thin" panose="020B0403030302020204" pitchFamily="34" charset="-127"/>
              <a:ea typeface="에스코어 드림 1 Thin" panose="020B0403030302020204" pitchFamily="34" charset="-127"/>
            </a:endParaRPr>
          </a:p>
          <a:p>
            <a:pPr algn="ctr"/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박영미</a:t>
            </a:r>
            <a:r>
              <a:rPr lang="en-US" altLang="ko-KR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,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김철연</a:t>
            </a:r>
            <a:r>
              <a:rPr lang="en-US" altLang="ko-KR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.(2021).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음성 인식 정확도 개선을 위한 언어모델 적용에 관한 연구</a:t>
            </a:r>
            <a:r>
              <a:rPr lang="en-US" altLang="ko-KR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.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한국정보과학회 학술발표논문집</a:t>
            </a:r>
            <a:r>
              <a:rPr lang="en-US" altLang="ko-KR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,(),287-289.</a:t>
            </a:r>
          </a:p>
          <a:p>
            <a:pPr algn="ctr"/>
            <a:endParaRPr lang="en-US" altLang="ko-KR" sz="900" dirty="0">
              <a:latin typeface="에스코어 드림 1 Thin" panose="020B0403030302020204" pitchFamily="34" charset="-127"/>
              <a:ea typeface="에스코어 드림 1 Thin" panose="020B0403030302020204" pitchFamily="34" charset="-127"/>
            </a:endParaRPr>
          </a:p>
          <a:p>
            <a:pPr algn="ctr"/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박현</a:t>
            </a:r>
            <a:r>
              <a:rPr lang="en-US" altLang="ko-KR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, 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김태근</a:t>
            </a:r>
            <a:r>
              <a:rPr lang="en-US" altLang="ko-KR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.(2021).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음성기반 인증모델의 화자 인식 기술 연구 및 음성인식에서 합성음성의 위험성 실험</a:t>
            </a:r>
            <a:r>
              <a:rPr lang="en-US" altLang="ko-KR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.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정보과학회지</a:t>
            </a:r>
            <a:r>
              <a:rPr lang="en-US" altLang="ko-KR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,39(8),48-54.</a:t>
            </a:r>
          </a:p>
          <a:p>
            <a:pPr algn="ctr"/>
            <a:endParaRPr lang="en-US" altLang="ko-KR" sz="900" dirty="0">
              <a:latin typeface="에스코어 드림 1 Thin" panose="020B0403030302020204" pitchFamily="34" charset="-127"/>
              <a:ea typeface="에스코어 드림 1 Thin" panose="020B0403030302020204" pitchFamily="34" charset="-127"/>
            </a:endParaRPr>
          </a:p>
          <a:p>
            <a:pPr algn="ctr"/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김현우</a:t>
            </a:r>
            <a:r>
              <a:rPr lang="en-US" altLang="ko-KR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,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고범연</a:t>
            </a:r>
            <a:r>
              <a:rPr lang="en-US" altLang="ko-KR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,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심종화</a:t>
            </a:r>
            <a:r>
              <a:rPr lang="en-US" altLang="ko-KR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, 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정원용</a:t>
            </a:r>
            <a:r>
              <a:rPr lang="en-US" altLang="ko-KR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, 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황인준</a:t>
            </a:r>
            <a:r>
              <a:rPr lang="en-US" altLang="ko-KR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.(2020).</a:t>
            </a:r>
            <a:r>
              <a:rPr lang="en-US" altLang="ko-KR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FaceNet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과 얼굴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특징점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 추출기를 활용한 정면 얼굴 인식 기법</a:t>
            </a:r>
            <a:r>
              <a:rPr lang="en-US" altLang="ko-KR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.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한국정보과학회 학술발표논문집</a:t>
            </a:r>
            <a:r>
              <a:rPr lang="en-US" altLang="ko-KR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,(),364-366.</a:t>
            </a:r>
          </a:p>
          <a:p>
            <a:pPr algn="ctr"/>
            <a:r>
              <a:rPr lang="en-US" altLang="ko-KR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ArcFace</a:t>
            </a:r>
            <a:r>
              <a:rPr lang="en-US" altLang="ko-KR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: Additive Angular Margin Loss for Deep Face Recognition | Papers With Code</a:t>
            </a:r>
            <a:endParaRPr lang="ko-KR" altLang="en-US" sz="900" dirty="0">
              <a:latin typeface="에스코어 드림 1 Thin" panose="020B0403030302020204" pitchFamily="34" charset="-127"/>
              <a:ea typeface="에스코어 드림 1 Thin" panose="020B0403030302020204" pitchFamily="34" charset="-127"/>
            </a:endParaRPr>
          </a:p>
          <a:p>
            <a:pPr algn="ctr"/>
            <a:endParaRPr lang="ko-KR" altLang="en-US" sz="900" dirty="0">
              <a:latin typeface="에스코어 드림 1 Thin" panose="020B0403030302020204" pitchFamily="34" charset="-127"/>
              <a:ea typeface="에스코어 드림 1 Thin" panose="020B0403030302020204" pitchFamily="34" charset="-127"/>
            </a:endParaRPr>
          </a:p>
          <a:p>
            <a:pPr algn="ctr"/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&lt;자료&gt;</a:t>
            </a:r>
          </a:p>
          <a:p>
            <a:pPr algn="ctr"/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구글 클라우드 아키텍처 센터 문서 ) 사물 인터넷 기술 개요 https://cloud.google.com/architecture/iot-overview?hl=ko</a:t>
            </a:r>
          </a:p>
          <a:p>
            <a:pPr algn="ctr"/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박성백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. (2022-03). 기후변화를 대비한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IoT기반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 레일 절손 및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좌굴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 감지 시스템 개발 [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표.그림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] 무선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LoRa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 통신을 위한 게이트웨이 및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라즈베리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 파이 모듈</a:t>
            </a:r>
          </a:p>
          <a:p>
            <a:pPr algn="ctr"/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엣지컴퓨팅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 http://wiki.hash.kr/index.php/%EC%97%A3%EC%A7%80%EC%BB%B4%ED%93%A8%ED%8C%85</a:t>
            </a:r>
            <a:endParaRPr lang="en-US" altLang="ko-KR" sz="900" dirty="0">
              <a:latin typeface="에스코어 드림 1 Thin" panose="020B0403030302020204" pitchFamily="34" charset="-127"/>
              <a:ea typeface="에스코어 드림 1 Thin" panose="020B0403030302020204" pitchFamily="34" charset="-127"/>
            </a:endParaRPr>
          </a:p>
          <a:p>
            <a:pPr algn="ctr"/>
            <a:r>
              <a:rPr lang="ko-KR" altLang="en-US" sz="900" b="1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주거침입 범죄 증가하는데 </a:t>
            </a:r>
            <a:r>
              <a:rPr lang="ko-KR" altLang="en-US" sz="900" b="1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검거율</a:t>
            </a:r>
            <a:r>
              <a:rPr lang="ko-KR" altLang="en-US" sz="900" b="1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 감소</a:t>
            </a:r>
            <a:r>
              <a:rPr lang="en-US" altLang="ko-KR" sz="900" b="1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, </a:t>
            </a:r>
            <a:r>
              <a:rPr lang="ko-KR" altLang="en-US" sz="900" b="1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여성 </a:t>
            </a:r>
            <a:r>
              <a:rPr lang="en-US" altLang="ko-KR" sz="900" b="1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1</a:t>
            </a:r>
            <a:r>
              <a:rPr lang="ko-KR" altLang="en-US" sz="900" b="1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인 가구 두려움에 떨고 있</a:t>
            </a:r>
          </a:p>
          <a:p>
            <a:pPr algn="ctr"/>
            <a:r>
              <a:rPr lang="en-US" altLang="ko-KR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https://www.newsdaily.kr/news/articleView.html?idxno=211754</a:t>
            </a:r>
            <a:endParaRPr lang="ko-KR" altLang="en-US" sz="900" dirty="0">
              <a:latin typeface="에스코어 드림 1 Thin" panose="020B0403030302020204" pitchFamily="34" charset="-127"/>
              <a:ea typeface="에스코어 드림 1 Thin" panose="020B0403030302020204" pitchFamily="34" charset="-127"/>
            </a:endParaRPr>
          </a:p>
          <a:p>
            <a:pPr algn="ctr"/>
            <a:endParaRPr lang="ko-KR" altLang="en-US" sz="900" dirty="0">
              <a:latin typeface="에스코어 드림 1 Thin" panose="020B0403030302020204" pitchFamily="34" charset="-127"/>
              <a:ea typeface="에스코어 드림 1 Thin" panose="020B0403030302020204" pitchFamily="34" charset="-127"/>
            </a:endParaRPr>
          </a:p>
          <a:p>
            <a:pPr algn="ctr"/>
            <a:endParaRPr lang="ko-KR" altLang="en-US" sz="900" dirty="0">
              <a:latin typeface="에스코어 드림 1 Thin" panose="020B0403030302020204" pitchFamily="34" charset="-127"/>
              <a:ea typeface="에스코어 드림 1 Thin" panose="020B0403030302020204" pitchFamily="34" charset="-127"/>
            </a:endParaRPr>
          </a:p>
          <a:p>
            <a:pPr algn="ctr"/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&lt;데이터&gt;</a:t>
            </a:r>
          </a:p>
          <a:p>
            <a:pPr algn="ctr"/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AI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Hub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 한국어 음성 데이터셋) https://aihub.or.kr/aihubdata/data/view.do?currMenu=115&amp;topMenu=100&amp;aihubDataSe=realm&amp;dataSetSn=123 수행기관(주관) : 한국전자통신연구원</a:t>
            </a:r>
          </a:p>
          <a:p>
            <a:pPr algn="ctr"/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AI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Hub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 안면인식 영상 데이터 셋 (이미지파일 형식) ) https://www.aihub.or.kr/aihubdata/data/view.do?currMenu=115&amp;topMenu=100</a:t>
            </a:r>
          </a:p>
          <a:p>
            <a:pPr algn="ctr"/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수행기관(주관) :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씨유박스</a:t>
            </a:r>
            <a:endParaRPr lang="ko-KR" altLang="en-US" sz="900" dirty="0">
              <a:latin typeface="에스코어 드림 1 Thin" panose="020B0403030302020204" pitchFamily="34" charset="-127"/>
              <a:ea typeface="에스코어 드림 1 Thin" panose="020B0403030302020204" pitchFamily="34" charset="-127"/>
            </a:endParaRPr>
          </a:p>
          <a:p>
            <a:pPr algn="ctr"/>
            <a:endParaRPr lang="ko-KR" altLang="en-US" sz="900" dirty="0">
              <a:latin typeface="에스코어 드림 1 Thin" panose="020B0403030302020204" pitchFamily="34" charset="-127"/>
              <a:ea typeface="에스코어 드림 1 Thin" panose="020B0403030302020204" pitchFamily="34" charset="-127"/>
            </a:endParaRPr>
          </a:p>
          <a:p>
            <a:pPr algn="ctr"/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&lt;특허&gt;</a:t>
            </a:r>
          </a:p>
          <a:p>
            <a:pPr algn="ctr"/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휴먼플러스(주).화자 인식을 이용한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도어락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 시스템 및 </a:t>
            </a:r>
            <a:r>
              <a:rPr lang="ko-KR" altLang="en-US" sz="900" dirty="0" err="1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도어락</a:t>
            </a:r>
            <a:r>
              <a:rPr lang="ko-KR" altLang="en-US" sz="900" dirty="0">
                <a:latin typeface="에스코어 드림 1 Thin" panose="020B0403030302020204" pitchFamily="34" charset="-127"/>
                <a:ea typeface="에스코어 드림 1 Thin" panose="020B0403030302020204" pitchFamily="34" charset="-127"/>
              </a:rPr>
              <a:t> 제어방법.   10-2020-0009992 (2020-01-28).</a:t>
            </a:r>
          </a:p>
        </p:txBody>
      </p:sp>
    </p:spTree>
    <p:extLst>
      <p:ext uri="{BB962C8B-B14F-4D97-AF65-F5344CB8AC3E}">
        <p14:creationId xmlns:p14="http://schemas.microsoft.com/office/powerpoint/2010/main" val="1168700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7232116B-ADE0-4213-A566-454551D1C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97452"/>
            <a:ext cx="9144000" cy="1655762"/>
          </a:xfrm>
        </p:spPr>
        <p:txBody>
          <a:bodyPr>
            <a:normAutofit/>
          </a:bodyPr>
          <a:lstStyle/>
          <a:p>
            <a:r>
              <a:rPr lang="ko-KR" altLang="en-US" sz="4400" spc="-15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감사합니다</a:t>
            </a:r>
            <a:r>
              <a:rPr lang="en-US" altLang="ko-KR" sz="4400" spc="-15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.</a:t>
            </a:r>
            <a:endParaRPr lang="ko-KR" altLang="en-US" sz="4400" spc="-150" dirty="0"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3742CBE-E2B7-4321-9ECE-865DBA21BE5E}"/>
              </a:ext>
            </a:extLst>
          </p:cNvPr>
          <p:cNvCxnSpPr>
            <a:cxnSpLocks/>
          </p:cNvCxnSpPr>
          <p:nvPr/>
        </p:nvCxnSpPr>
        <p:spPr>
          <a:xfrm>
            <a:off x="3251200" y="2755635"/>
            <a:ext cx="30162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D2B78B0-74F3-4EDB-93CF-6D6D3772ACD3}"/>
              </a:ext>
            </a:extLst>
          </p:cNvPr>
          <p:cNvCxnSpPr>
            <a:cxnSpLocks/>
          </p:cNvCxnSpPr>
          <p:nvPr/>
        </p:nvCxnSpPr>
        <p:spPr>
          <a:xfrm flipV="1">
            <a:off x="6019800" y="3591982"/>
            <a:ext cx="2974086" cy="190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599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2320</TotalTime>
  <Words>1941</Words>
  <Application>Microsoft Office PowerPoint</Application>
  <PresentationFormat>와이드스크린</PresentationFormat>
  <Paragraphs>300</Paragraphs>
  <Slides>20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1" baseType="lpstr">
      <vt:lpstr>에스코어 드림 5 Medium</vt:lpstr>
      <vt:lpstr>에스코어 드림 4 Regular</vt:lpstr>
      <vt:lpstr>맑은 고딕</vt:lpstr>
      <vt:lpstr>에스코어 드림 2 ExtraLight</vt:lpstr>
      <vt:lpstr>에스코어 드림 1 Thin</vt:lpstr>
      <vt:lpstr>에스코어 드림 8 Heavy</vt:lpstr>
      <vt:lpstr>에스코어 드림 9 Black</vt:lpstr>
      <vt:lpstr>에스코어 드림 7 ExtraBold</vt:lpstr>
      <vt:lpstr>에스코어 드림 3 Light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고은솔</dc:creator>
  <cp:lastModifiedBy>장창현</cp:lastModifiedBy>
  <cp:revision>407</cp:revision>
  <dcterms:created xsi:type="dcterms:W3CDTF">2020-11-26T12:57:00Z</dcterms:created>
  <dcterms:modified xsi:type="dcterms:W3CDTF">2026-03-25T13:25:41Z</dcterms:modified>
  <cp:contentStatus/>
</cp:coreProperties>
</file>